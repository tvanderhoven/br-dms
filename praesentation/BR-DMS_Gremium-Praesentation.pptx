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c00df8ad-884c-d70d-371f-696c2da3c4b1}">
          <p14:sldIdLst>
            <p14:sldId id="256"/>
          </p14:sldIdLst>
        </p14:section>
        <p14:section name="Arbeiten mit BR-DMS" id="{9331c73c-a55e-fef1-fef5-fa4ae1055e76}">
          <p14:sldIdLst>
            <p14:sldId id="257"/>
            <p14:sldId id="258"/>
            <p14:sldId id="259"/>
            <p14:sldId id="260"/>
            <p14:sldId id="261"/>
          </p14:sldIdLst>
        </p14:section>
        <p14:section name="Fristen und Mitbestimmung" id="{a5041824-899e-39ae-9ade-235a2a073ebf}">
          <p14:sldIdLst>
            <p14:sldId id="262"/>
            <p14:sldId id="263"/>
          </p14:sldIdLst>
        </p14:section>
        <p14:section name="Aufgaben und mehr" id="{dcbba201-edaf-cea3-3754-53713e9ebaab}">
          <p14:sldIdLst>
            <p14:sldId id="264"/>
            <p14:sldId id="265"/>
          </p14:sldIdLst>
        </p14:section>
        <p14:section name="Vertraulichkeit und Start" id="{b9a0a201-230a-53c6-77a1-c63601ec4f2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Gelb markierte Stellen in eckigen Klammern sind Platzhalter: durch eure Angaben ersetzen und die Markierung entfernen. Alle Screenshots stammen aus der Demo und zeigen erfundene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1F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tmarke"/>
          <p:cNvSpPr txBox="1"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BR-DMS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FÜR DAS GREMIUM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digitales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Betriebsratsbüro.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Sitzungen, Beschlüsse, Fristen und Aufgaben an einem Ort – im Intranet, nur für uns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BR-DMS · Vorstellung im Gremium ·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highlight>
                  <a:srgbClr val="FFE68A"/>
                </a:highlight>
              </a:rPr>
              <a:t>[Datum]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· Screenshots aus der Demo mit erfundenen Daten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Version 1.8.6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START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der Tag auf einen Blick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Nach dem Anmelden sieht jede Person, was für sie jetzt zählt.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 steht drauf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6883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Nächste Sitzung mit Ort, Uhrzeit und Stand der Tagesordnung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Meine Aufgaben und die der anderen, nach Fälligkeit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Fristen farbig nach Dringlichkeit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Dokumenteneingang und ungelesene Nachrichten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Benachrichtigungen im System, E-Mail nur als Rückfall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941251" y="1719072"/>
            <a:ext cx="4507617" cy="287121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Dashboard mit nächster Sitzung, Aufgaben, Fristen und Nachrich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539" y="1737360"/>
            <a:ext cx="4471041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SITZUNGEN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Sitzung und Protokollverlauf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Vom Entwurf bis zum finalen Protokoll – jeder Schritt bleibt nachvollziehbar.</a:t>
            </a:r>
            <a:endParaRPr lang="en-US" sz="1300" dirty="0"/>
          </a:p>
        </p:txBody>
      </p:sp>
      <p:sp>
        <p:nvSpPr>
          <p:cNvPr id="5" name="Bildrahmen"/>
          <p:cNvSpPr/>
          <p:nvPr/>
        </p:nvSpPr>
        <p:spPr>
          <a:xfrm>
            <a:off x="753309" y="1444752"/>
            <a:ext cx="7637382" cy="204825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0" descr="Sitzung mit Versionshistor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97" y="1463040"/>
            <a:ext cx="7600806" cy="2011680"/>
          </a:xfrm>
          <a:prstGeom prst="rect">
            <a:avLst/>
          </a:prstGeom>
        </p:spPr>
      </p:pic>
      <p:sp>
        <p:nvSpPr>
          <p:cNvPr id="7" name="Karte"/>
          <p:cNvSpPr/>
          <p:nvPr/>
        </p:nvSpPr>
        <p:spPr>
          <a:xfrm>
            <a:off x="54864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74904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Ablauf: Entwurf → Tagesordnung fixiert → Protokoll → Final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Jede Version bleibt als PDF erhalten</a:t>
            </a:r>
            <a:endParaRPr lang="en-US" sz="1200" dirty="0"/>
          </a:p>
        </p:txBody>
      </p:sp>
      <p:sp>
        <p:nvSpPr>
          <p:cNvPr id="9" name="Karte"/>
          <p:cNvSpPr/>
          <p:nvPr/>
        </p:nvSpPr>
        <p:spPr>
          <a:xfrm>
            <a:off x="466344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28032" y="374904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Einladung mit Tagesordnung, Anwesenheitsliste vorbereitet, Unterschriftenseite mit Prüfsumme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Vertrauliche TOPs sehen JAV und SBV nicht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SITZUNGEN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Abwesenheitskalender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Wer ist wann nicht da? Eintragen geht in Sekunden.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funktioniert 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6883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Urlaub, Krankheit, Schulung, Dienstreise – Sitzungstermine stehen im selben Kalender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Jede Person trägt ihre eigenen Tage ein, Vorsitz und Stellvertretung auch für andere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Den Grund sehen nur die Person selbst, Vorsitz und Stellvertretung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Kein Export nach außen, alles bleibt im Intranet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776472" y="1795424"/>
            <a:ext cx="4837176" cy="2718511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Monatskalender mit Abwesenheiten und Sitzungstermin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813712"/>
            <a:ext cx="4800600" cy="26819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SITZUNGEN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Nachrücken: Ladung und Ersatz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Die Ladung gleicht sich mit dem Kalender ab.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Was passiert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6883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Hinweis je Person, wenn jemand am Sitzungstag abwesend ist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Ersatzmitglied laut Wahlrang, abwesende Ersatzmitglieder werden übersprungen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Prognose der Beschlussfähigkeit (§ 33 Abs. 2)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Ein Klick: „Aus Kalender übernehmen“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776472" y="2182673"/>
            <a:ext cx="4837176" cy="1944014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Ladung mit Hinweis auf Abwesenheit und Ersatzmitgl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200961"/>
            <a:ext cx="4800600" cy="19074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BESCHLÜSSE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Beschlussregister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Alle Beschlüsse aller Sitzungen, durchsuchbar und unveränderbar.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 Register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6883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Mehrere Beschlüsse je TOP, Stimmergebnis wird automatisch gezählt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Rechtsgrundlage je Beschluss, Filter nach Zeitraum und Sitzung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Nach dem Finalisieren gesperrt, mit Zeitstempel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Rechtsgrundlagen sind eine persönliche Auslegung, nicht juristisch geprüft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776472" y="2064258"/>
            <a:ext cx="4837176" cy="2180844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Beschlussregister mit Filter und Beschlüss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082546"/>
            <a:ext cx="4800600" cy="21442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FRISTEN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99 / § 102: Eingang mit Frist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Neue Anhörungen laufen nicht mehr im Postfach unter.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 läuft 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6883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Dokument landet im Dokumenteneingang, Zugang wird bestätigt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Die Frist wird berechnet und im Kalender angezeigt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Warnung, wenn keine Sitzung vor Fristende liegt: dann Sondersitzung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Ein Klick auf TOP, Aufgabe oder Wiedervorlage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776472" y="2073859"/>
            <a:ext cx="4837176" cy="2161642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Eingang mit Zugangsbestätigung, Frist und Warnu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092147"/>
            <a:ext cx="4800600" cy="21250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MITBESTIMMUNG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87: Zeitmodell direkt eintragen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Beschlossen, dann sofort in der Historie – ohne Abtippen.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2743200" cy="2834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Aus dem TOP heraus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41401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„In Eingruppierung übertragen“: Gehalt, Zeitmodell oder Überstunden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Mitarbeiter, Modell und Gültigkeitszeitraum wählen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Befristet oder unbefristet, mit Bemerkung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Die Historie warnt vor auslaufenden Zeiträumen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502152" y="1737360"/>
            <a:ext cx="2139696" cy="256032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Dialog „In Eingruppierung übertragen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755648"/>
            <a:ext cx="2103120" cy="2523744"/>
          </a:xfrm>
          <a:prstGeom prst="rect">
            <a:avLst/>
          </a:prstGeom>
        </p:spPr>
      </p:pic>
      <p:sp>
        <p:nvSpPr>
          <p:cNvPr id="10" name="Bildrahmen"/>
          <p:cNvSpPr/>
          <p:nvPr/>
        </p:nvSpPr>
        <p:spPr>
          <a:xfrm>
            <a:off x="5788152" y="2421926"/>
            <a:ext cx="2825496" cy="1191189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1" name="Image 1" descr="Zeitmodell-Historie mit Zeiträum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440214"/>
            <a:ext cx="2788920" cy="11546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4343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 Beschluss: Übertragen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43434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Ergebnis: Zeitmodell-Historie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AUFGABEN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 aus der Sitzung verteilen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Aus einem TOP wird mit zwei Klicks eine Aufgabe mit Namen und Datum.</a:t>
            </a:r>
            <a:endParaRPr lang="en-US" sz="1300" dirty="0"/>
          </a:p>
        </p:txBody>
      </p:sp>
      <p:sp>
        <p:nvSpPr>
          <p:cNvPr id="5" name="Karte"/>
          <p:cNvSpPr/>
          <p:nvPr/>
        </p:nvSpPr>
        <p:spPr>
          <a:xfrm>
            <a:off x="548640" y="1737360"/>
            <a:ext cx="2743200" cy="2834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745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Vom TOP zur Aufgabe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03704"/>
            <a:ext cx="241401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„Als Aufgabe“ am TOP: Titel und Text sind schon übernommen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Zuweisen, Priorität und Fälligkeit festlegen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Board: Neu, In Bearbeitung, Auf Hold, Erledigt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Fällige Aufgaben stehen im Dashboard</a:t>
            </a:r>
            <a:endParaRPr lang="en-US" sz="1200" dirty="0"/>
          </a:p>
        </p:txBody>
      </p:sp>
      <p:sp>
        <p:nvSpPr>
          <p:cNvPr id="8" name="Bildrahmen"/>
          <p:cNvSpPr/>
          <p:nvPr/>
        </p:nvSpPr>
        <p:spPr>
          <a:xfrm>
            <a:off x="3565947" y="1719072"/>
            <a:ext cx="1737785" cy="2596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Image 0" descr="Dialog „Aus TOP übernehmen“ als Aufga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235" y="1737360"/>
            <a:ext cx="1701209" cy="2560320"/>
          </a:xfrm>
          <a:prstGeom prst="rect">
            <a:avLst/>
          </a:prstGeom>
        </p:spPr>
      </p:pic>
      <p:sp>
        <p:nvSpPr>
          <p:cNvPr id="10" name="Bildrahmen"/>
          <p:cNvSpPr/>
          <p:nvPr/>
        </p:nvSpPr>
        <p:spPr>
          <a:xfrm>
            <a:off x="5513832" y="2070049"/>
            <a:ext cx="3099816" cy="1894942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1" name="Image 1" descr="Aufgaben-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088337"/>
            <a:ext cx="3063240" cy="18583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Am TOP anlegen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43434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AUSSERDEM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sonst noch drin steckt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18872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3258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Fristenkalender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65506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Alle Fristen im Monat, mit E-Mail-Erinnerung.</a:t>
            </a:r>
            <a:endParaRPr lang="en-US" sz="1200" dirty="0"/>
          </a:p>
        </p:txBody>
      </p:sp>
      <p:sp>
        <p:nvSpPr>
          <p:cNvPr id="7" name="Karte"/>
          <p:cNvSpPr/>
          <p:nvPr/>
        </p:nvSpPr>
        <p:spPr>
          <a:xfrm>
            <a:off x="3291840" y="118872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258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Betriebsvereinbarungen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65506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 mit Laufzeit und Warnung vor Ablauf, Volltextsuche.</a:t>
            </a:r>
            <a:endParaRPr lang="en-US" sz="1200" dirty="0"/>
          </a:p>
        </p:txBody>
      </p:sp>
      <p:sp>
        <p:nvSpPr>
          <p:cNvPr id="10" name="Karte"/>
          <p:cNvSpPr/>
          <p:nvPr/>
        </p:nvSpPr>
        <p:spPr>
          <a:xfrm>
            <a:off x="6035040" y="118872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3258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Schulungen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65506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Termine, Teilnehmende, Qualifikationsmatrix mit Ablaufüberwachung.</a:t>
            </a:r>
            <a:endParaRPr lang="en-US" sz="1200" dirty="0"/>
          </a:p>
        </p:txBody>
      </p:sp>
      <p:sp>
        <p:nvSpPr>
          <p:cNvPr id="13" name="Karte"/>
          <p:cNvSpPr/>
          <p:nvPr/>
        </p:nvSpPr>
        <p:spPr>
          <a:xfrm>
            <a:off x="548640" y="2350008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4871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Wissensarchiv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2816352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Erfahrungen und Lösungen ablegen, aus Protokollen übernehmen.</a:t>
            </a:r>
            <a:endParaRPr lang="en-US" sz="1200" dirty="0"/>
          </a:p>
        </p:txBody>
      </p:sp>
      <p:sp>
        <p:nvSpPr>
          <p:cNvPr id="16" name="Karte"/>
          <p:cNvSpPr/>
          <p:nvPr/>
        </p:nvSpPr>
        <p:spPr>
          <a:xfrm>
            <a:off x="3291840" y="2350008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24871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Kummerkasten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2816352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Anonymes Formular ohne Login, intern bearbeitbar.</a:t>
            </a:r>
            <a:endParaRPr lang="en-US" sz="1200" dirty="0"/>
          </a:p>
        </p:txBody>
      </p:sp>
      <p:sp>
        <p:nvSpPr>
          <p:cNvPr id="19" name="Karte"/>
          <p:cNvSpPr/>
          <p:nvPr/>
        </p:nvSpPr>
        <p:spPr>
          <a:xfrm>
            <a:off x="6035040" y="2350008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24871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Wahlen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2816352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Fristen, Wählerliste und Gremiumsgröße für BR- und JAV-Wahl.</a:t>
            </a:r>
            <a:endParaRPr lang="en-US" sz="1200" dirty="0"/>
          </a:p>
        </p:txBody>
      </p:sp>
      <p:sp>
        <p:nvSpPr>
          <p:cNvPr id="22" name="Karte"/>
          <p:cNvSpPr/>
          <p:nvPr/>
        </p:nvSpPr>
        <p:spPr>
          <a:xfrm>
            <a:off x="548640" y="3511296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36484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Globale Suche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3977640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Dokumente, Sitzungen, Beschlüsse, Aufgaben und Gesetzestexte.</a:t>
            </a:r>
            <a:endParaRPr lang="en-US" sz="1200" dirty="0"/>
          </a:p>
        </p:txBody>
      </p:sp>
      <p:sp>
        <p:nvSpPr>
          <p:cNvPr id="25" name="Karte"/>
          <p:cNvSpPr/>
          <p:nvPr/>
        </p:nvSpPr>
        <p:spPr>
          <a:xfrm>
            <a:off x="3291840" y="3511296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6432" y="36484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Themenakte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6432" y="3977640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Themen mit Verlauf, Beteiligten und @Erwähnungen.</a:t>
            </a:r>
            <a:endParaRPr lang="en-US" sz="1200" dirty="0"/>
          </a:p>
        </p:txBody>
      </p:sp>
      <p:sp>
        <p:nvSpPr>
          <p:cNvPr id="28" name="Karte"/>
          <p:cNvSpPr/>
          <p:nvPr/>
        </p:nvSpPr>
        <p:spPr>
          <a:xfrm>
            <a:off x="6035040" y="3511296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99632" y="36484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Amtsübergabe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3977640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Ein PDF mit Mitgliedern, Dokumenten, Fristen und Beschlüssen.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VERTRAULICHKEIT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Daten bleiben bei uns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Nur Intranet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922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Läuft auf einem eigenen Gerät im Haus. Keine Cloud, kein Zugriff von außen.</a:t>
            </a:r>
            <a:endParaRPr lang="en-US" sz="1200" dirty="0"/>
          </a:p>
        </p:txBody>
      </p:sp>
      <p:sp>
        <p:nvSpPr>
          <p:cNvPr id="7" name="Karte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Verschlüsselt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922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Dokumente liegen verschlüsselt (AES-256) auf der Platte. Backups sind es auch.</a:t>
            </a:r>
            <a:endParaRPr lang="en-US" sz="1200" dirty="0"/>
          </a:p>
        </p:txBody>
      </p:sp>
      <p:sp>
        <p:nvSpPr>
          <p:cNvPr id="10" name="Karte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Rollen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7922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Vorsitz, Stellvertretung, Mitglied, Ersatzmitglied, JAV und SBV sehen jeweils nur ihren Teil.</a:t>
            </a:r>
            <a:endParaRPr lang="en-US" sz="1200" dirty="0"/>
          </a:p>
        </p:txBody>
      </p:sp>
      <p:sp>
        <p:nvSpPr>
          <p:cNvPr id="13" name="Karte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Nachvollziehbar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3924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 Audit-Log zeigt, wer wann was getan hat.</a:t>
            </a:r>
            <a:endParaRPr lang="en-US" sz="1200" dirty="0"/>
          </a:p>
        </p:txBody>
      </p:sp>
      <p:sp>
        <p:nvSpPr>
          <p:cNvPr id="16" name="Karte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Technik ohne Einblick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3924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Der Admin kann auf die Technik beschränkt werden und sieht dann keine Inhalte.</a:t>
            </a:r>
            <a:endParaRPr lang="en-US" sz="1200" dirty="0"/>
          </a:p>
        </p:txBody>
      </p:sp>
      <p:sp>
        <p:nvSpPr>
          <p:cNvPr id="19" name="Karte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3063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Offener Quellcode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39242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 Source (AGPL), von uns und der IT prüfbar.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WIE GEHT ES WEITER?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Ausprobieren, ohne etwas zu riskieren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Es gibt eine Demo mit erfundenen Daten, getrennt vom echten System.</a:t>
            </a:r>
            <a:endParaRPr lang="en-US" sz="1400" dirty="0"/>
          </a:p>
        </p:txBody>
      </p:sp>
      <p:sp>
        <p:nvSpPr>
          <p:cNvPr id="5" name="Schritt"/>
          <p:cNvSpPr/>
          <p:nvPr/>
        </p:nvSpPr>
        <p:spPr>
          <a:xfrm>
            <a:off x="54864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2E3036"/>
          </a:solidFill>
          <a:ln w="9525">
            <a:solidFill>
              <a:srgbClr val="3F4148"/>
            </a:solidFill>
            <a:prstDash val="solid"/>
          </a:ln>
        </p:spPr>
      </p:sp>
      <p:sp>
        <p:nvSpPr>
          <p:cNvPr id="6" name="Nummer"/>
          <p:cNvSpPr/>
          <p:nvPr/>
        </p:nvSpPr>
        <p:spPr>
          <a:xfrm>
            <a:off x="713232" y="193852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231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Demo durchklicken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7432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Jede Person kann Sitzung, Beschluss und Aufgabe selbst anlegen.</a:t>
            </a:r>
            <a:endParaRPr lang="en-US" sz="1200" dirty="0"/>
          </a:p>
        </p:txBody>
      </p:sp>
      <p:sp>
        <p:nvSpPr>
          <p:cNvPr id="10" name="Schritt"/>
          <p:cNvSpPr/>
          <p:nvPr/>
        </p:nvSpPr>
        <p:spPr>
          <a:xfrm>
            <a:off x="329184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2E3036"/>
          </a:solidFill>
          <a:ln w="9525">
            <a:solidFill>
              <a:srgbClr val="3F4148"/>
            </a:solidFill>
            <a:prstDash val="solid"/>
          </a:ln>
        </p:spPr>
      </p:sp>
      <p:sp>
        <p:nvSpPr>
          <p:cNvPr id="11" name="Nummer"/>
          <p:cNvSpPr/>
          <p:nvPr/>
        </p:nvSpPr>
        <p:spPr>
          <a:xfrm>
            <a:off x="3456432" y="193852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4231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Rückmeldungen sammeln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7432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Was fehlt, was nervt, was ist unklar?</a:t>
            </a:r>
            <a:endParaRPr lang="en-US" sz="1200" dirty="0"/>
          </a:p>
        </p:txBody>
      </p:sp>
      <p:sp>
        <p:nvSpPr>
          <p:cNvPr id="15" name="Schritt"/>
          <p:cNvSpPr/>
          <p:nvPr/>
        </p:nvSpPr>
        <p:spPr>
          <a:xfrm>
            <a:off x="603504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2E3036"/>
          </a:solidFill>
          <a:ln w="9525">
            <a:solidFill>
              <a:srgbClr val="3F4148"/>
            </a:solidFill>
            <a:prstDash val="solid"/>
          </a:ln>
        </p:spPr>
      </p:sp>
      <p:sp>
        <p:nvSpPr>
          <p:cNvPr id="16" name="Nummer"/>
          <p:cNvSpPr/>
          <p:nvPr/>
        </p:nvSpPr>
        <p:spPr>
          <a:xfrm>
            <a:off x="6199632" y="193852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4231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Gemeinsam entscheiden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7432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Einsatz im Gremium, Zeitpunkt und Zuständigkeiten.</a:t>
            </a:r>
            <a:endParaRPr lang="en-US" sz="1200" dirty="0"/>
          </a:p>
        </p:txBody>
      </p:sp>
      <p:sp>
        <p:nvSpPr>
          <p:cNvPr id="20" name="Hinweis"/>
          <p:cNvSpPr/>
          <p:nvPr/>
        </p:nvSpPr>
        <p:spPr>
          <a:xfrm>
            <a:off x="548640" y="379476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2E3036"/>
          </a:solidFill>
          <a:ln w="9525">
            <a:solidFill>
              <a:srgbClr val="3F41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7"/>
                </a:solidFill>
              </a:rPr>
              <a:t>Hinweis:</a:t>
            </a:r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</a:rPr>
              <a:t> BR-DMS ist keine Rechtsberatung. Die Rechtsbezüge sind eine persönliche Auslegung und nicht von einer Anwältin oder einem Anwalt geprüft. Bitte vor dem Einsatz gegenlesen lassen, zum Beispiel über die Gewerkschaft.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-DMS">
  <a:themeElements>
    <a:clrScheme name="BR-DMS">
      <a:dk1>
        <a:srgbClr val="1F2125"/>
      </a:dk1>
      <a:lt1>
        <a:srgbClr val="FFFFFF"/>
      </a:lt1>
      <a:dk2>
        <a:srgbClr val="52525B"/>
      </a:dk2>
      <a:lt2>
        <a:srgbClr val="F4F4F5"/>
      </a:lt2>
      <a:accent1>
        <a:srgbClr val="C41230"/>
      </a:accent1>
      <a:accent2>
        <a:srgbClr val="1E7B4A"/>
      </a:accent2>
      <a:accent3>
        <a:srgbClr val="B45309"/>
      </a:accent3>
      <a:accent4>
        <a:srgbClr val="52525B"/>
      </a:accent4>
      <a:accent5>
        <a:srgbClr val="A1A1AA"/>
      </a:accent5>
      <a:accent6>
        <a:srgbClr val="E4E4E7"/>
      </a:accent6>
      <a:hlink>
        <a:srgbClr val="C41230"/>
      </a:hlink>
      <a:folHlink>
        <a:srgbClr val="71717A"/>
      </a:folHlink>
    </a:clrScheme>
    <a:fontScheme name="BR-DM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BR-DMS – Vorstellung im Gremium</dc:title>
  <dc:subject>Vorstellung von BR-DMS, dem Dokumentenmanagement für Betriebsräte</dc:subject>
  <dc:creator>BR-DMS</dc:creator>
  <cp:lastModifiedBy>BR-DMS</cp:lastModifiedBy>
  <cp:revision>1</cp:revision>
  <dcterms:created xsi:type="dcterms:W3CDTF">2026-10-27T04:54:38Z</dcterms:created>
  <dcterms:modified xsi:type="dcterms:W3CDTF">2026-10-27T04:54:38Z</dcterms:modified>
</cp:coreProperties>
</file>