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373d2cd1-71b1-cc9c-abf0-dbe020199417}">
          <p14:sldIdLst>
            <p14:sldId id="256"/>
          </p14:sldIdLst>
        </p14:section>
        <p14:section name="Nutzen" id="{51fd5588-8c14-c240-5a75-fec8abd07333}">
          <p14:sldIdLst>
            <p14:sldId id="257"/>
            <p14:sldId id="258"/>
            <p14:sldId id="259"/>
            <p14:sldId id="260"/>
          </p14:sldIdLst>
        </p14:section>
        <p14:section name="Sicherheit und Betrieb" id="{1af84ab6-a942-3906-2084-c0fbc0a4635c}">
          <p14:sldIdLst>
            <p14:sldId id="261"/>
            <p14:sldId id="262"/>
          </p14:sldIdLst>
        </p14:section>
        <p14:section name="Einführung" id="{8c0521ba-25be-5e57-c244-1747701e3cb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Gelb markierte Stellen in eckigen Klammern sind Platzhalter: vor der Vorstellung durch eure Angaben ersetzen und die Markierung entfernen.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Alles Wichtige der Betriebsratsarbeit an einer Stelle, ohne laufende Kosten und ohne dass Daten das Haus verlassen.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Arbeitgeberseite profitiert von verlässlichen Verfahren und sauberer Dokumentation.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Marktpreise stammen aus Herstellerangaben (Stand Oktober 2026) und können sich geändert haben – vor der Vorstellung prüfen und ggf. aktualisieren. Die Zahl der Betriebsratsmitglieder an eure Größe anpassen.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IT betreibt die Technik, sieht aber keine Inhalte – das ist die zentrale Aussage für Datenschutz und Vertraulichkeit.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Offene Benennung der Risiken schafft Vertrauen. Die rechtlichen Hinweise im System ersetzen keine Rechtsberatung.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Checkliste an eure Situation anpassen. Der Betriebsrat betreibt das System selbst; die IT unterstützt bei Netz, Zertifikat und 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F4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solidFill>
          <a:srgbClr val="1F21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BR-DMS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0704" y="4754880"/>
            <a:ext cx="91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1A1A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tmarke"/>
          <p:cNvSpPr txBox="1"/>
          <p:nvPr/>
        </p:nvSpPr>
        <p:spPr>
          <a:xfrm>
            <a:off x="548640" y="548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BR-DMS</a:t>
            </a:r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FÜR DIE GESCHÄFTSFÜHRUNG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Betriebsratsarbeit digital –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im eigenen Haus.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Keine Lizenzkosten · keine Cloud · Daten verschlüsselt auf eigener Hardware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Vorstellung BR-DMS ·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highlight>
                  <a:srgbClr val="FFE68A"/>
                </a:highlight>
              </a:rPr>
              <a:t>[Betriebsrat / Firma]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highlight>
                  <a:srgbClr val="FFE68A"/>
                </a:highlight>
              </a:rPr>
              <a:t>[Datum]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76656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Version 1.8.6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AUF EINEN BLICK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Punkte, die zählen</a:t>
            </a:r>
            <a:endParaRPr lang="en-US" sz="2800" dirty="0"/>
          </a:p>
        </p:txBody>
      </p:sp>
      <p:sp>
        <p:nvSpPr>
          <p:cNvPr id="5" name="Einleitung"/>
          <p:cNvSpPr txBox="1"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BR-DMS bündelt die Arbeit des Betriebsrats an einer Stelle: Sitzungen, Beschlüsse, Fristen und Dokumente. Bisher lag das in Ordnern, Excel-Listen und Word-Vorlagen.</a:t>
            </a:r>
            <a:endParaRPr lang="en-US" sz="1400" dirty="0"/>
          </a:p>
        </p:txBody>
      </p:sp>
      <p:sp>
        <p:nvSpPr>
          <p:cNvPr id="6" name="Karte"/>
          <p:cNvSpPr/>
          <p:nvPr/>
        </p:nvSpPr>
        <p:spPr>
          <a:xfrm>
            <a:off x="548640" y="1965960"/>
            <a:ext cx="1874520" cy="23774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210312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0 €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60604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Lizenzkosten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935224"/>
            <a:ext cx="15453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Source, kein Abo, keine Bindung an einen Anbieter.</a:t>
            </a:r>
            <a:endParaRPr lang="en-US" sz="1400" dirty="0"/>
          </a:p>
        </p:txBody>
      </p:sp>
      <p:sp>
        <p:nvSpPr>
          <p:cNvPr id="10" name="Karte"/>
          <p:cNvSpPr/>
          <p:nvPr/>
        </p:nvSpPr>
        <p:spPr>
          <a:xfrm>
            <a:off x="2606040" y="1965960"/>
            <a:ext cx="1874520" cy="23774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70632" y="210312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100 %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770632" y="260604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Intranet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770632" y="2935224"/>
            <a:ext cx="15453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Keine Cloud, keine Telemetrie. Die Daten verlassen das Haus nicht.</a:t>
            </a:r>
            <a:endParaRPr lang="en-US" sz="1400" dirty="0"/>
          </a:p>
        </p:txBody>
      </p:sp>
      <p:sp>
        <p:nvSpPr>
          <p:cNvPr id="14" name="Karte"/>
          <p:cNvSpPr/>
          <p:nvPr/>
        </p:nvSpPr>
        <p:spPr>
          <a:xfrm>
            <a:off x="4663440" y="1965960"/>
            <a:ext cx="1874520" cy="23774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28032" y="210312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AES-256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4828032" y="260604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Verschlüsselt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828032" y="2935224"/>
            <a:ext cx="15453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Dokumente und Backups sind verschlüsselt, jeder Zugriff wird protokolliert.</a:t>
            </a:r>
            <a:endParaRPr lang="en-US" sz="1400" dirty="0"/>
          </a:p>
        </p:txBody>
      </p:sp>
      <p:sp>
        <p:nvSpPr>
          <p:cNvPr id="18" name="Karte"/>
          <p:cNvSpPr/>
          <p:nvPr/>
        </p:nvSpPr>
        <p:spPr>
          <a:xfrm>
            <a:off x="6720840" y="1965960"/>
            <a:ext cx="1874520" cy="237744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85432" y="210312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Fristen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885432" y="260604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 Blick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85432" y="2935224"/>
            <a:ext cx="154533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Die Fristen nach § 99 und § 102 BetrVG laufen mit, mit Erinnerung.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WORUM ES GEHT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System statt Ordner und Listen</a:t>
            </a:r>
            <a:endParaRPr lang="en-US" sz="2800" dirty="0"/>
          </a:p>
        </p:txBody>
      </p:sp>
      <p:sp>
        <p:nvSpPr>
          <p:cNvPr id="4" name="Karte"/>
          <p:cNvSpPr/>
          <p:nvPr/>
        </p:nvSpPr>
        <p:spPr>
          <a:xfrm>
            <a:off x="5486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544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Sitzungen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8366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Einladung, Protokoll und Beschlüsse; das Protokoll als PDF mit Unterschriftenseite.</a:t>
            </a:r>
            <a:endParaRPr lang="en-US" sz="1300" dirty="0"/>
          </a:p>
        </p:txBody>
      </p:sp>
      <p:sp>
        <p:nvSpPr>
          <p:cNvPr id="7" name="Karte"/>
          <p:cNvSpPr/>
          <p:nvPr/>
        </p:nvSpPr>
        <p:spPr>
          <a:xfrm>
            <a:off x="32918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15544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Beschlussregister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8366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Jeder Beschluss ist auffindbar und nachvollziehbar.</a:t>
            </a:r>
            <a:endParaRPr lang="en-US" sz="1300" dirty="0"/>
          </a:p>
        </p:txBody>
      </p:sp>
      <p:sp>
        <p:nvSpPr>
          <p:cNvPr id="10" name="Karte"/>
          <p:cNvSpPr/>
          <p:nvPr/>
        </p:nvSpPr>
        <p:spPr>
          <a:xfrm>
            <a:off x="6035040" y="14173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99632" y="15544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Fristenkalender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188366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Anhörungen und Zustimmungsverfahren mit Frist und Erinnerung.</a:t>
            </a:r>
            <a:endParaRPr lang="en-US" sz="1300" dirty="0"/>
          </a:p>
        </p:txBody>
      </p:sp>
      <p:sp>
        <p:nvSpPr>
          <p:cNvPr id="13" name="Karte"/>
          <p:cNvSpPr/>
          <p:nvPr/>
        </p:nvSpPr>
        <p:spPr>
          <a:xfrm>
            <a:off x="5486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32004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Dokumentenablage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52958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Verschlüsselt, mit Volltextsuche.</a:t>
            </a:r>
            <a:endParaRPr lang="en-US" sz="1300" dirty="0"/>
          </a:p>
        </p:txBody>
      </p:sp>
      <p:sp>
        <p:nvSpPr>
          <p:cNvPr id="16" name="Karte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6432" y="32004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Rollen und Vertraulichkeit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56432" y="352958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BR, JAV und SBV: Vertrauliches sehen nur Berechtigte.</a:t>
            </a:r>
            <a:endParaRPr lang="en-US" sz="1300" dirty="0"/>
          </a:p>
        </p:txBody>
      </p:sp>
      <p:sp>
        <p:nvSpPr>
          <p:cNvPr id="19" name="Karte"/>
          <p:cNvSpPr/>
          <p:nvPr/>
        </p:nvSpPr>
        <p:spPr>
          <a:xfrm>
            <a:off x="6035040" y="306324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99632" y="320040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99632" y="3529584"/>
            <a:ext cx="223113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Nächste Sitzung, Aufgaben und Fristen auf einen Blick.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NUTZEN FÜR DAS UNTERNEHMEN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Unternehmen davon hat</a:t>
            </a:r>
            <a:endParaRPr lang="en-US" sz="2800" dirty="0"/>
          </a:p>
        </p:txBody>
      </p:sp>
      <p:sp>
        <p:nvSpPr>
          <p:cNvPr id="5" name="Einleitung"/>
          <p:cNvSpPr txBox="1"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Ein gut organisierter Betriebsrat ist auch für die Arbeitgeberseite ein verlässlicher Partner.</a:t>
            </a:r>
            <a:endParaRPr lang="en-US" sz="1400" dirty="0"/>
          </a:p>
        </p:txBody>
      </p:sp>
      <p:sp>
        <p:nvSpPr>
          <p:cNvPr id="6" name="Karte"/>
          <p:cNvSpPr/>
          <p:nvPr/>
        </p:nvSpPr>
        <p:spPr>
          <a:xfrm>
            <a:off x="54864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920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Verlässliche Verfahren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249424"/>
            <a:ext cx="22311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Fristen werden überwacht und nicht versäumt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Ladung, Beschlussfähigkeit und Beschluss sind dokumentiert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Weniger Rückfragen und Formfehler</a:t>
            </a:r>
            <a:endParaRPr lang="en-US" sz="1200" dirty="0"/>
          </a:p>
        </p:txBody>
      </p:sp>
      <p:sp>
        <p:nvSpPr>
          <p:cNvPr id="9" name="Karte"/>
          <p:cNvSpPr/>
          <p:nvPr/>
        </p:nvSpPr>
        <p:spPr>
          <a:xfrm>
            <a:off x="329184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56432" y="1920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Datenschutz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56432" y="2249424"/>
            <a:ext cx="22311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Nach § 79a BetrVG ist der Arbeitgeber datenschutzrechtlich verantwortlich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Rollen, Aufbewahrungsfristen und Audit-Log unterstützen das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Keine Daten bei Drittanbietern</a:t>
            </a:r>
            <a:endParaRPr lang="en-US" sz="1200" dirty="0"/>
          </a:p>
        </p:txBody>
      </p:sp>
      <p:sp>
        <p:nvSpPr>
          <p:cNvPr id="12" name="Karte"/>
          <p:cNvSpPr/>
          <p:nvPr/>
        </p:nvSpPr>
        <p:spPr>
          <a:xfrm>
            <a:off x="6035040" y="17830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99632" y="19202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Kostentransparenz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199632" y="2249424"/>
            <a:ext cx="22311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Kosten nach § 40 BetrVG werden im System erfasst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Schulungskosten werden automatisch übernommen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Klare Übersicht statt Einzelbelegen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KOSTEN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Lizenz, kein Abo</a:t>
            </a:r>
            <a:endParaRPr lang="en-US" sz="2800" dirty="0"/>
          </a:p>
        </p:txBody>
      </p:sp>
      <p:sp>
        <p:nvSpPr>
          <p:cNvPr id="5" name="Einleitung"/>
          <p:cNvSpPr txBox="1"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Die Kosten für die IT des Betriebsrats trägt der Arbeitgeber (§ 40 Abs. 2 BetrVG). Mit BR-DMS entsteht dafür keine Lizenzposition.</a:t>
            </a:r>
            <a:endParaRPr lang="en-US" sz="1400" dirty="0"/>
          </a:p>
        </p:txBody>
      </p:sp>
      <p:graphicFrame>
        <p:nvGraphicFramePr>
          <p:cNvPr id="6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BR-DMS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Marktlösungen (Cloud)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Lizenz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0 €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z. B. 25–40 € je Mitglied/Monat oder ab 99–199 €/Monat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Beispiel 9 Mitglieder, pro Jahr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0 €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ca. 1.200–4.300 €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Hardware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vorhandener Server oder NAS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beim Anbieter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Datenstandort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im Haus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Rechenzentrum des Anbieters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Preis- und Anbieterrisiko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keins (Quellcode offen)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Preiserhöhung, Kündigung, Insolvenz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Hinweis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 w="9525">
            <a:solidFill>
              <a:srgbClr val="F3D98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E00"/>
                </a:solidFill>
              </a:rPr>
              <a:t>Marktpreise laut Herstellerangaben, Stand Oktober 2026, ohne Gewähr. Die Liste ist nicht abschließend. Zusätzlich fallen nur geringe Sachkosten an, z. B. für einen Backup-Datenträger.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SICHERHEIT &amp; DATENSCHUTZ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Abgeschottet, verschlüsselt, nachvollziehbar</a:t>
            </a:r>
            <a:endParaRPr lang="en-US" sz="2800" dirty="0"/>
          </a:p>
        </p:txBody>
      </p:sp>
      <p:sp>
        <p:nvSpPr>
          <p:cNvPr id="5" name="Karte"/>
          <p:cNvSpPr/>
          <p:nvPr/>
        </p:nvSpPr>
        <p:spPr>
          <a:xfrm>
            <a:off x="548640" y="132588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46304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 Haus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36027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Läuft auf eigener Hardware im Intranet (z. B.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highlight>
                  <a:srgbClr val="FFE68A"/>
                </a:highlight>
              </a:rPr>
              <a:t>[NAS / Server]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). Keine Freigabe ins Internet, keine Cloud.</a:t>
            </a:r>
            <a:endParaRPr lang="en-US" sz="1300" dirty="0"/>
          </a:p>
        </p:txBody>
      </p:sp>
      <p:sp>
        <p:nvSpPr>
          <p:cNvPr id="8" name="Karte"/>
          <p:cNvSpPr/>
          <p:nvPr/>
        </p:nvSpPr>
        <p:spPr>
          <a:xfrm>
            <a:off x="4663440" y="132588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28032" y="146304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Verschlüsselt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28032" y="1792224"/>
            <a:ext cx="36027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Jedes Dokument und jedes Backup ist mit AES-256 verschlüsselt. Die Schlüssel liegen getrennt.</a:t>
            </a:r>
            <a:endParaRPr lang="en-US" sz="1300" dirty="0"/>
          </a:p>
        </p:txBody>
      </p:sp>
      <p:sp>
        <p:nvSpPr>
          <p:cNvPr id="11" name="Karte"/>
          <p:cNvSpPr/>
          <p:nvPr/>
        </p:nvSpPr>
        <p:spPr>
          <a:xfrm>
            <a:off x="548640" y="26517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27889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Zugriff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3118104"/>
            <a:ext cx="36027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Rollen, Zwei-Faktor-Anmeldung und automatisches Abmelden. Die IT kann ohne Zugriff auf Inhalte administrieren.</a:t>
            </a:r>
            <a:endParaRPr lang="en-US" sz="1300" dirty="0"/>
          </a:p>
        </p:txBody>
      </p:sp>
      <p:sp>
        <p:nvSpPr>
          <p:cNvPr id="14" name="Karte"/>
          <p:cNvSpPr/>
          <p:nvPr/>
        </p:nvSpPr>
        <p:spPr>
          <a:xfrm>
            <a:off x="4663440" y="2651760"/>
            <a:ext cx="39319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28032" y="2788920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Protokolliert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28032" y="3118104"/>
            <a:ext cx="36027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Das Audit-Log hält fest, wer wann was getan hat. Das Backup läuft täglich, ein Restore wird getestet.</a:t>
            </a:r>
            <a:endParaRPr lang="en-US" sz="1300" dirty="0"/>
          </a:p>
        </p:txBody>
      </p:sp>
      <p:sp>
        <p:nvSpPr>
          <p:cNvPr id="17" name="Hinweis"/>
          <p:cNvSpPr/>
          <p:nvPr/>
        </p:nvSpPr>
        <p:spPr>
          <a:xfrm>
            <a:off x="548640" y="402336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0A1D"/>
                </a:solidFill>
              </a:rPr>
              <a:t>Die Vertraulichkeit der Betriebsratsarbeit bleibt gewahrt:</a:t>
            </a:r>
            <a:pPr indent="0" marL="0">
              <a:buNone/>
            </a:pPr>
            <a:r>
              <a:rPr lang="en-US" sz="1300" dirty="0">
                <a:solidFill>
                  <a:srgbClr val="7A0A1D"/>
                </a:solidFill>
              </a:rPr>
              <a:t> Die IT betreibt die Technik, sieht aber keine Inhalte.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RISIKEN OFFEN BENANNT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passieren kann und wie wir vorsorgen</a:t>
            </a:r>
            <a:endParaRPr lang="en-US" sz="2800" dirty="0"/>
          </a:p>
        </p:txBody>
      </p:sp>
      <p:graphicFrame>
        <p:nvGraphicFramePr>
          <p:cNvPr id="8" name="Tabel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Risiko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Absicherung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Abhängigkeit von einer Person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Quellcode offen (AGPL-3.0), Handbuch und Backup-Anleitung als PDF, Vertretung der Administration geregelt, Standardtechnik (Docker, PostgreSQL)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Ausfall der Hardware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Tägliches verschlüsseltes Backup mit 30 Tagen Aufbewahrung und einer zweiten Kopie an anderer Stelle; der Restore wird getestet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Verlust der Schlüssel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Die Schlüssel sind ausgedruckt und liegen sicher außerhalb des Servers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Sicherheitslücken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Automatische Tests vor jedem Update, Prüfung der Abhängigkeiten, Hinweis auf neue Versionen; die IT kann den Code prüfen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Rechtliche Hinweise im System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Sie sind nicht juristisch geprüft und nur eine Hilfe. Entscheidungen trifft weiterhin das Gremium.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"/>
          <p:cNvSpPr txBox="1"/>
          <p:nvPr/>
        </p:nvSpPr>
        <p:spPr>
          <a:xfrm>
            <a:off x="548640" y="274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EINFÜHRUNG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vor dem Start zu klären ist</a:t>
            </a:r>
            <a:endParaRPr lang="en-US" sz="2800" dirty="0"/>
          </a:p>
        </p:txBody>
      </p:sp>
      <p:sp>
        <p:nvSpPr>
          <p:cNvPr id="5" name="Karte"/>
          <p:cNvSpPr/>
          <p:nvPr/>
        </p:nvSpPr>
        <p:spPr>
          <a:xfrm>
            <a:off x="54864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Technik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1792224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Server oder NAS im Intranet bereitstellen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Firewall und Zertifikat mit der IT abstimmen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Backup automatisieren, Restore testen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Zweite Backup-Kopie an anderem Ort ablegen</a:t>
            </a:r>
            <a:endParaRPr lang="en-US" sz="1200" dirty="0"/>
          </a:p>
        </p:txBody>
      </p:sp>
      <p:sp>
        <p:nvSpPr>
          <p:cNvPr id="8" name="Karte"/>
          <p:cNvSpPr/>
          <p:nvPr/>
        </p:nvSpPr>
        <p:spPr>
          <a:xfrm>
            <a:off x="329184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64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Organisation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56432" y="1792224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Abstimmung mit IT und Datenschutz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Rechtekonzept für den Server festlegen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Vertretung der Administration regeln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Rollen im Gremium vergeben</a:t>
            </a:r>
            <a:endParaRPr lang="en-US" sz="1200" dirty="0"/>
          </a:p>
        </p:txBody>
      </p:sp>
      <p:sp>
        <p:nvSpPr>
          <p:cNvPr id="11" name="Karte"/>
          <p:cNvSpPr/>
          <p:nvPr/>
        </p:nvSpPr>
        <p:spPr>
          <a:xfrm>
            <a:off x="6035040" y="132588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99632" y="14630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Danach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99632" y="1792224"/>
            <a:ext cx="223113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Den laufenden Betrieb übernimmt der Betriebsrat selbst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Updates werden per Skript eingespielt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Die Weiterentwicklung folgt der Roadmap</a:t>
            </a:r>
            <a:endParaRPr lang="en-US" sz="1200" dirty="0"/>
          </a:p>
        </p:txBody>
      </p:sp>
      <p:sp>
        <p:nvSpPr>
          <p:cNvPr id="14" name="Hinweis"/>
          <p:cNvSpPr/>
          <p:nvPr/>
        </p:nvSpPr>
        <p:spPr>
          <a:xfrm>
            <a:off x="548640" y="3931920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FDECEF"/>
          </a:solidFill>
          <a:ln w="9525">
            <a:solidFill>
              <a:srgbClr val="F3BFC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0A1D"/>
                </a:solidFill>
              </a:rPr>
              <a:t>Fragen?</a:t>
            </a:r>
            <a:pPr indent="0" marL="0">
              <a:buNone/>
            </a:pPr>
            <a:r>
              <a:rPr lang="en-US" sz="1200" dirty="0">
                <a:solidFill>
                  <a:srgbClr val="7A0A1D"/>
                </a:solidFill>
              </a:rPr>
              <a:t> Handbuch und Backup-Anleitung liegen als PDF bereit. Eine Live-Demo mit Beispieldaten ist jederzeit möglich.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-DMS">
  <a:themeElements>
    <a:clrScheme name="BR-DMS">
      <a:dk1>
        <a:srgbClr val="1F2125"/>
      </a:dk1>
      <a:lt1>
        <a:srgbClr val="FFFFFF"/>
      </a:lt1>
      <a:dk2>
        <a:srgbClr val="52525B"/>
      </a:dk2>
      <a:lt2>
        <a:srgbClr val="F4F4F5"/>
      </a:lt2>
      <a:accent1>
        <a:srgbClr val="C41230"/>
      </a:accent1>
      <a:accent2>
        <a:srgbClr val="1E7B4A"/>
      </a:accent2>
      <a:accent3>
        <a:srgbClr val="B45309"/>
      </a:accent3>
      <a:accent4>
        <a:srgbClr val="52525B"/>
      </a:accent4>
      <a:accent5>
        <a:srgbClr val="A1A1AA"/>
      </a:accent5>
      <a:accent6>
        <a:srgbClr val="E4E4E7"/>
      </a:accent6>
      <a:hlink>
        <a:srgbClr val="C41230"/>
      </a:hlink>
      <a:folHlink>
        <a:srgbClr val="71717A"/>
      </a:folHlink>
    </a:clrScheme>
    <a:fontScheme name="BR-DM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BR-DMS – Vorstellung für die Geschäftsführung</dc:title>
  <dc:subject>Vorstellung von BR-DMS, dem Dokumentenmanagement für Betriebsräte</dc:subject>
  <dc:creator>BR-DMS</dc:creator>
  <cp:lastModifiedBy>BR-DMS</cp:lastModifiedBy>
  <cp:revision>1</cp:revision>
  <dcterms:created xsi:type="dcterms:W3CDTF">2026-10-27T04:49:16Z</dcterms:created>
  <dcterms:modified xsi:type="dcterms:W3CDTF">2026-10-27T04:49:16Z</dcterms:modified>
</cp:coreProperties>
</file>