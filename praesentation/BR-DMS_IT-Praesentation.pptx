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3-1.jpg" ContentType="image/jpg"/>
  <Override PartName="/ppt/media/image-3-2.jpg" ContentType="image/jpg"/>
  <Override PartName="/ppt/media/image-8-1.jpg" ContentType="image/jpg"/>
  <Override PartName="/ppt/media/image-8-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0" r:id="rId21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Einstieg: Kurz sagen, warum wir hier sind – Vorstellung des Systems, Live-Demo, offene Punkte zum Betrieb.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82512"/>
            <a:ext cx="822960" cy="2514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3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2377440" cy="72603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2651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BETRIEBSRATS-DOKUMENTENMANAGEMENT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01752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Daten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bleiben bei uns.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Intranet · durchgängig verschlüsselt · läuft in vier Docker-Containern auf unserem NAS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6217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8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IT-Abteilung · Mittwoch · Live-Demo inklusive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GEHT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BR-DMS?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Arbeit des Betriebsrats – Sitzungen, Protokolle, Beschlüsse, Fristen, Dokumente – an einer Stelle. Statt Ordnerstruktur, Excel-Listen und Word-Vorlagen.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453384" cy="3566160"/>
          </a:xfrm>
          <a:prstGeom prst="roundRect">
            <a:avLst>
              <a:gd name="adj" fmla="val 317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3288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441448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wen?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926080"/>
            <a:ext cx="29961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Betriebsrat, JAV und SBV mit eigenen Rollen. Vertrauliches ist nur für Berechtigte sichtbar – auch die Administration kann auf Inhalte verzichten.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67784" y="2286000"/>
            <a:ext cx="3453384" cy="3566160"/>
          </a:xfrm>
          <a:prstGeom prst="roundRect">
            <a:avLst>
              <a:gd name="adj" fmla="val 317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6384" y="253288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70704" y="2441448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kann es?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926080"/>
            <a:ext cx="29961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Sitzungen mit Protokoll und PDF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Beschlussregister, Abstimmungen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Fristenkalender (§ 99 / § 102 …)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Verschlüsselte Dokumentenablage mit Volltextsuche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95488" y="2286000"/>
            <a:ext cx="3453384" cy="3566160"/>
          </a:xfrm>
          <a:prstGeom prst="roundRect">
            <a:avLst>
              <a:gd name="adj" fmla="val 317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4088" y="253288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98408" y="2441448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Woher kommt es?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24088" y="2926080"/>
            <a:ext cx="29961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der Praxis eines Betriebsrats entwickelt, als Open Source (AGPL-3.0) veröffentlicht. Der Quellcode ist offen und kann von der IT geprüft werden.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SIEHT ES AUS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und Sitzungsprotokoll</a:t>
            </a:r>
            <a:endParaRPr lang="en-US" sz="3200" dirty="0"/>
          </a:p>
        </p:txBody>
      </p:sp>
      <p:pic>
        <p:nvPicPr>
          <p:cNvPr id="4" name="Image 0" descr="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5271516" cy="32946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00200"/>
            <a:ext cx="5271516" cy="3294698"/>
          </a:xfrm>
          <a:prstGeom prst="rect">
            <a:avLst/>
          </a:prstGeom>
          <a:ln w="12700">
            <a:solidFill>
              <a:srgbClr val="E1E2E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04626"/>
            <a:ext cx="5271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</a:t>
            </a:r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Sitzung, Aufgaben, Fristen und Nachrichten auf einen Blick</a:t>
            </a:r>
            <a:endParaRPr lang="en-US" sz="1400" dirty="0"/>
          </a:p>
        </p:txBody>
      </p:sp>
      <p:pic>
        <p:nvPicPr>
          <p:cNvPr id="7" name="Image 1" descr="Sitzu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6" y="1600200"/>
            <a:ext cx="5271516" cy="32946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77356" y="1600200"/>
            <a:ext cx="5271516" cy="3294698"/>
          </a:xfrm>
          <a:prstGeom prst="rect">
            <a:avLst/>
          </a:prstGeom>
          <a:ln w="12700">
            <a:solidFill>
              <a:srgbClr val="E1E2E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277356" y="5004626"/>
            <a:ext cx="5271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Sitzung: </a:t>
            </a:r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Versionshistorie, Unterschriftenseite und Sitzungspaket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SO UND NICHT ANDERS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Vorteile gegenüber anderen Systemen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Betriebsratsdaten sind Personaldaten und teils Gehaltsdaten. Die sicherste Lösung ist die, bei der nichts das Haus verlässt.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08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926080"/>
                <a:gridCol w="2926080"/>
                <a:gridCol w="2404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3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BR-DMS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3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Cloud-DMS / SaaS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3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Fileserver + Office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3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Datenstandort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unser NAS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Fremder Anbieter, oft Drittland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Verschlüsselung der Ablage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AES-256-GCM pro Dokument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06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Anbieterschlüssel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Meist keine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Zugriff durch Admins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Inhalte sperrbar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Anbieter-Personal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Jeder Admin sieht alles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Rollen und Vertraulichkeit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 / JAV / SBV, je TOP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06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Generisch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Ordnerrechte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Nachvollziehbarkeit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Audit-Log, 30+ Aktionen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06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 nach Tarif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Fachlogik Betriebsrat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Fristen, Wahlen, Beschlussfähigkeit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Selbst bauen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 / Abhängigkeit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7A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Keine Lizenz, kein Vendor-Lock-in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Abo, Preisrisiko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06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Office-Lizenzen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Aufbau: ein Weg hinein, der Rest abgeschottet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737360" cy="3566160"/>
          </a:xfrm>
          <a:prstGeom prst="roundRect">
            <a:avLst>
              <a:gd name="adj" fmla="val 5263"/>
            </a:avLst>
          </a:prstGeom>
          <a:solidFill>
            <a:srgbClr val="F3F3F4"/>
          </a:solidFill>
          <a:ln w="12700">
            <a:solidFill>
              <a:srgbClr val="E1E2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INTRANET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2232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1371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320040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223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200400"/>
            <a:ext cx="1371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Netzordner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→ Backend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429768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223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97680"/>
            <a:ext cx="1371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Mail-Server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→ Mail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926080" y="1508760"/>
            <a:ext cx="8622792" cy="4114800"/>
          </a:xfrm>
          <a:prstGeom prst="roundRect">
            <a:avLst>
              <a:gd name="adj" fmla="val 3333"/>
            </a:avLst>
          </a:prstGeom>
          <a:ln w="28575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54680" y="1572768"/>
            <a:ext cx="816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· DOCKER COMPOSE · NETZ „brdms_net“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54680" y="20574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C8102E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54680" y="2057400"/>
            <a:ext cx="20116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1.30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 / 1.3 · HSTS · CSP</a:t>
            </a:r>
            <a:endParaRPr lang="en-US" sz="1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8443 (HTTPS)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205984" y="20574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222327"/>
          </a:solidFill>
          <a:ln w="19050">
            <a:solidFill>
              <a:srgbClr val="2223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05984" y="2057400"/>
            <a:ext cx="20116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im Container</a:t>
            </a:r>
            <a:endParaRPr lang="en-US" sz="1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127.0.0.1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257288" y="20574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222327"/>
          </a:solidFill>
          <a:ln w="19050">
            <a:solidFill>
              <a:srgbClr val="22232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57288" y="2057400"/>
            <a:ext cx="20116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24 · Fastify 5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· PDF · Mail</a:t>
            </a:r>
            <a:endParaRPr lang="en-US" sz="1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Port nach außen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257288" y="3977640"/>
            <a:ext cx="2011680" cy="1280160"/>
          </a:xfrm>
          <a:prstGeom prst="roundRect">
            <a:avLst>
              <a:gd name="adj" fmla="val 7143"/>
            </a:avLst>
          </a:prstGeom>
          <a:solidFill>
            <a:srgbClr val="222327"/>
          </a:solidFill>
          <a:ln w="19050">
            <a:solidFill>
              <a:srgbClr val="22232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7288" y="3977640"/>
            <a:ext cx="20116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Datenbank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Port nach außen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308592" y="3977640"/>
            <a:ext cx="20116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2223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08592" y="3977640"/>
            <a:ext cx="20116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Dokumente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154680" y="3977640"/>
            <a:ext cx="406298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1F7A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154680" y="3977640"/>
            <a:ext cx="4062984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7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 (nur lesbar fürs Backend)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backup.sh per cron · AES-256 verschlüsselt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Aufbewahrung 30 Tage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2194560" y="2514600"/>
            <a:ext cx="960120" cy="0"/>
          </a:xfrm>
          <a:prstGeom prst="line">
            <a:avLst/>
          </a:prstGeom>
          <a:noFill/>
          <a:ln w="28575">
            <a:solidFill>
              <a:srgbClr val="2223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166360" y="2743200"/>
            <a:ext cx="39624" cy="0"/>
          </a:xfrm>
          <a:prstGeom prst="line">
            <a:avLst/>
          </a:prstGeom>
          <a:noFill/>
          <a:ln w="28575">
            <a:solidFill>
              <a:srgbClr val="2223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217664" y="2743200"/>
            <a:ext cx="39624" cy="0"/>
          </a:xfrm>
          <a:prstGeom prst="line">
            <a:avLst/>
          </a:prstGeom>
          <a:noFill/>
          <a:ln w="28575">
            <a:solidFill>
              <a:srgbClr val="22232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263128" y="3429000"/>
            <a:ext cx="0" cy="548640"/>
          </a:xfrm>
          <a:prstGeom prst="line">
            <a:avLst/>
          </a:prstGeom>
          <a:noFill/>
          <a:ln w="28575">
            <a:solidFill>
              <a:srgbClr val="222327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268968" y="4617720"/>
            <a:ext cx="39624" cy="0"/>
          </a:xfrm>
          <a:prstGeom prst="line">
            <a:avLst/>
          </a:prstGeom>
          <a:noFill/>
          <a:ln w="28575">
            <a:solidFill>
              <a:srgbClr val="2223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0080" y="571500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E5F4EC"/>
          </a:solidFill>
          <a:ln w="6350">
            <a:solidFill>
              <a:srgbClr val="E5F4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571500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Einziger Zugang: HTTPS über den Proxy. Datenbank und Backend haben keine Ports nach außen.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vier Docker-Container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per docker-compose.yml beschrieben – ein Befehl startet das System, ein Befehl aktualisiert es.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4023360"/>
                <a:gridCol w="2039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3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/ Technik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3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Aufgabe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3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Erreichbar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32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brdms_proxy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nginx 1.30-alpine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TLS beenden, Sicherheits-Header setzen, Frontend und API unter einer Adresse bündeln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Host-Netz, 8443 / 8080 (→ HTTPS)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brdms_frontend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18, Vite, Tailwind in nginx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Oberfläche; leitet /api intern ans Backend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127.0.0.1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brdms_backend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24, Fastify 5, Prisma (TypeScript)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Logik, Rechte, Ver-/Entschlüsselung, PDF, Mail, Watch Folder, Hintergrundjobs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intern, Healthcheck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brdms_postgres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16-alpine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Daten außer den Dokumentdateien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3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intern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3453384" cy="1143000"/>
          </a:xfrm>
          <a:prstGeom prst="roundRect">
            <a:avLst>
              <a:gd name="adj" fmla="val 9600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8680" y="532180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5230368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 auf dem NAS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71500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 DATA_PATH: Datenbank, Storage, Logs, Backups, Zertifikate.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67784" y="5074920"/>
            <a:ext cx="3453384" cy="1143000"/>
          </a:xfrm>
          <a:prstGeom prst="roundRect">
            <a:avLst>
              <a:gd name="adj" fmla="val 9600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96384" y="532180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70704" y="5230368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Konfiguration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596384" y="571500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 in einer .env, erzeugt vom Installationsassistenten.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095488" y="5074920"/>
            <a:ext cx="3453384" cy="1143000"/>
          </a:xfrm>
          <a:prstGeom prst="roundRect">
            <a:avLst>
              <a:gd name="adj" fmla="val 9600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324088" y="532180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8408" y="5230368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Neustart-fest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24088" y="5715000"/>
            <a:ext cx="299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restart: unless-stopped und Healthchecks an allen Diensten.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Verschlüsselt, abgeschottet, nachvollziehbar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53384" cy="3566160"/>
          </a:xfrm>
          <a:prstGeom prst="roundRect">
            <a:avLst>
              <a:gd name="adj" fmla="val 317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9280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801368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86000"/>
            <a:ext cx="29961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Dokumente AES-256-GCM, nur bei Bedarf entschlüsselt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Prüfsumme je Dokument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 AES-256 + PBKDF2 (600.000 Iterationen)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Schlüssel separat ausgedruckt aufbewahren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67784" y="1645920"/>
            <a:ext cx="3453384" cy="3566160"/>
          </a:xfrm>
          <a:prstGeom prst="roundRect">
            <a:avLst>
              <a:gd name="adj" fmla="val 317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6384" y="189280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70704" y="1801368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Zugriff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2286000"/>
            <a:ext cx="29961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Rollen: Vorsitz, Stellvertretung, Mitglied, Ersatz, JAV, SBV, Admin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Passwörter mit scrypt und Salt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Zwei-Faktor (TOTP), optional oder Pflicht je Rolle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Auto-Logout, Rate-Limits gegen Brute Force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95488" y="1645920"/>
            <a:ext cx="3453384" cy="3566160"/>
          </a:xfrm>
          <a:prstGeom prst="roundRect">
            <a:avLst>
              <a:gd name="adj" fmla="val 317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24088" y="189280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8408" y="1801368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Netz und Web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24088" y="2286000"/>
            <a:ext cx="29961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 / 1.3, HSTS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Content-Security-Policy, X-Frame-Options DENY, nosniff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Client-IP im Log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Lückenloses Audit-Log mit IP, Zeit, User-Agent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44068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E5F4EC"/>
          </a:solidFill>
          <a:ln w="6350">
            <a:solidFill>
              <a:srgbClr val="E5F4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4406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Besonderheit: Admin ohne Inhaltszugriff – technische Verwaltung beschränkbar; Sitzungen, Dokumente, Personal- und Audit-Daten bleiben dem Gremium vorbehalten.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SIEHT ES AUS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und Nachvollziehbarkeit</a:t>
            </a:r>
            <a:endParaRPr lang="en-US" sz="3200" dirty="0"/>
          </a:p>
        </p:txBody>
      </p:sp>
      <p:pic>
        <p:nvPicPr>
          <p:cNvPr id="4" name="Image 0" descr="Admin ohne Inhaltszugri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5271516" cy="32946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00200"/>
            <a:ext cx="5271516" cy="3294698"/>
          </a:xfrm>
          <a:prstGeom prst="rect">
            <a:avLst/>
          </a:prstGeom>
          <a:ln w="12700">
            <a:solidFill>
              <a:srgbClr val="E1E2E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04626"/>
            <a:ext cx="5271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ohne Inhaltszugriff: </a:t>
            </a:r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Schalter für die technische Betreuung durch die IT</a:t>
            </a:r>
            <a:endParaRPr lang="en-US" sz="1400" dirty="0"/>
          </a:p>
        </p:txBody>
      </p:sp>
      <p:pic>
        <p:nvPicPr>
          <p:cNvPr id="7" name="Image 1" descr="Audit-L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6" y="1600200"/>
            <a:ext cx="5271516" cy="32946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77356" y="1600200"/>
            <a:ext cx="5271516" cy="3294698"/>
          </a:xfrm>
          <a:prstGeom prst="rect">
            <a:avLst/>
          </a:prstGeom>
          <a:ln w="12700">
            <a:solidFill>
              <a:srgbClr val="E1E2E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277356" y="5004626"/>
            <a:ext cx="5271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Audit-Log: </a:t>
            </a:r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hat wann was getan, mit IP und Zeitstempel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INTRANET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Netz sieht – ehrlich aufgelistet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Cloud, keine Telemetrie, keine Fremd-Skripte (CSP: nur eigene Quellen). Es gibt genau zwei optionale ausgehende Abrufe.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71516" cy="3017520"/>
          </a:xfrm>
          <a:prstGeom prst="roundRect">
            <a:avLst>
              <a:gd name="adj" fmla="val 3636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32888"/>
            <a:ext cx="182880" cy="182880"/>
          </a:xfrm>
          <a:prstGeom prst="ellipse">
            <a:avLst/>
          </a:prstGeom>
          <a:solidFill>
            <a:srgbClr val="1F7A4D"/>
          </a:solidFill>
          <a:ln w="6350">
            <a:solidFill>
              <a:srgbClr val="1F7A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441448"/>
            <a:ext cx="4585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Eingehend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926080"/>
            <a:ext cx="481431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8443 aus dem Firmennetz, optional 8080 mit Weiterleitung auf HTTPS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Freigabe ins Internet nötig oder vorgesehen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Zertifikat aus der internen 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286000"/>
            <a:ext cx="5271516" cy="3017520"/>
          </a:xfrm>
          <a:prstGeom prst="roundRect">
            <a:avLst>
              <a:gd name="adj" fmla="val 3636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5956" y="2532888"/>
            <a:ext cx="182880" cy="182880"/>
          </a:xfrm>
          <a:prstGeom prst="ellipse">
            <a:avLst/>
          </a:prstGeom>
          <a:solidFill>
            <a:srgbClr val="B06400"/>
          </a:solidFill>
          <a:ln w="6350">
            <a:solidFill>
              <a:srgbClr val="B06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80276" y="2441448"/>
            <a:ext cx="4585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Ausgehend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05956" y="2926080"/>
            <a:ext cx="481431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an den internen Mailserver (Einladungen, Fristen-Erinnerung)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api.github.com – tägliche Versionsprüfung, abschaltbar (UPDATE_CHECK_ENABLED=false)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gesetze-im-internet.de – monatliche Gesetzestexte; ohne Freigabe bleibt der Stand stehen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53212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E5F4EC"/>
          </a:solidFill>
          <a:ln w="6350">
            <a:solidFill>
              <a:srgbClr val="E5F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553212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Firewall-Regeln sind eingerichtet und funktionieren. Das Zertifikat kommt aus unserer internen 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automatisiert und getestet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71516" cy="3749040"/>
          </a:xfrm>
          <a:prstGeom prst="roundRect">
            <a:avLst>
              <a:gd name="adj" fmla="val 292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92808"/>
            <a:ext cx="182880" cy="182880"/>
          </a:xfrm>
          <a:prstGeom prst="ellipse">
            <a:avLst/>
          </a:prstGeom>
          <a:solidFill>
            <a:srgbClr val="1F7A4D"/>
          </a:solidFill>
          <a:ln w="6350">
            <a:solidFill>
              <a:srgbClr val="1F7A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801368"/>
            <a:ext cx="4585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vorhanden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86000"/>
            <a:ext cx="4814316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backup.sh läuft per cron: Datenbank + Storage, verschlüsselt (.enc), 30 Tage Rotation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Infodatei mit Version/Commit je Backup; restore.sh prüft, ob es passt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erfolgreich getestet; transaktional – bei Fehler bleibt die Datenbank unverändert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Wochenmail an den Vorsitz; Warnung bei altem, unvollständigem oder unverschlüsseltem Backup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Verschlüsselt darf eine Kopie bei der IT liegen, ohne dass diese lesen kann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77356" y="1645920"/>
            <a:ext cx="5271516" cy="3749040"/>
          </a:xfrm>
          <a:prstGeom prst="roundRect">
            <a:avLst>
              <a:gd name="adj" fmla="val 292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5956" y="1892808"/>
            <a:ext cx="182880" cy="182880"/>
          </a:xfrm>
          <a:prstGeom prst="ellipse">
            <a:avLst/>
          </a:prstGeom>
          <a:solidFill>
            <a:srgbClr val="B06400"/>
          </a:solidFill>
          <a:ln w="6350">
            <a:solidFill>
              <a:srgbClr val="B064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80276" y="1801368"/>
            <a:ext cx="4585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offen: Kopie außer Haus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05956" y="2286000"/>
            <a:ext cx="4814316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Externe Festplatten: wir wechseln selbst, fester Termin, Platte im Safe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Automatisch: NAS-Aufgabenplaner kopiert nachts auf USB-Platte oder zweites NAS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IT-Ziel: verschlüsselte Dateien auf einem IT-Share / Bandsicherung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Empfehlung: tägliche Sicherung bleibt automatisch, zusätzlich eine Platte oder ein IT-Share außer Haus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57784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FBEAED"/>
          </a:solidFill>
          <a:ln w="6350">
            <a:solidFill>
              <a:srgbClr val="FBE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57784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Wichtig: ENCRYPTION_KEY und BACKUP_KEY ausgedruckt an einem sicheren Ort außerhalb des NAS. Ohne sie ist kein Restore möglich.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die IT mitwirken kann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 und Administration liegen bei uns auf dem NAS. Die IT kann – muss aber nicht – an diesen Stellen unterstützen: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21458" cy="2743200"/>
          </a:xfrm>
          <a:prstGeom prst="roundRect">
            <a:avLst>
              <a:gd name="adj" fmla="val 4352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3288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441448"/>
            <a:ext cx="183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Netz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926080"/>
            <a:ext cx="206425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Firewall-Regeln und Zertifikat aus der internen CA stehen bereits.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35858" y="2286000"/>
            <a:ext cx="2521458" cy="2743200"/>
          </a:xfrm>
          <a:prstGeom prst="roundRect">
            <a:avLst>
              <a:gd name="adj" fmla="val 4352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64458" y="253288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38778" y="2441448"/>
            <a:ext cx="183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64458" y="2926080"/>
            <a:ext cx="206425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für verschlüsselte Kopien außer Haus, Einbindung in die bestehende Sicherung.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1636" y="2286000"/>
            <a:ext cx="2521458" cy="2743200"/>
          </a:xfrm>
          <a:prstGeom prst="roundRect">
            <a:avLst>
              <a:gd name="adj" fmla="val 4352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0236" y="253288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34556" y="2441448"/>
            <a:ext cx="183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60236" y="2926080"/>
            <a:ext cx="206425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Quellcode ist offen. Security-Review, Penetrationstest, Blick auf die CI-Ergebnisse.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027414" y="2286000"/>
            <a:ext cx="2521458" cy="2743200"/>
          </a:xfrm>
          <a:prstGeom prst="roundRect">
            <a:avLst>
              <a:gd name="adj" fmla="val 4352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56014" y="2532888"/>
            <a:ext cx="182880" cy="18288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30334" y="2441448"/>
            <a:ext cx="183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9256014" y="2926080"/>
            <a:ext cx="206425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NAS-Updates, Snapshots, Überwachung. Vertretung: Vorsitzvertretung.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534924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E5F4EC"/>
          </a:solidFill>
          <a:ln w="6350">
            <a:solidFill>
              <a:srgbClr val="E5F4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34924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Grenze bewusst gezogen: Die IT betreibt die Infrastruktur, sieht aber wegen Verschlüsselung und „Admin ohne Inhaltszugriff“ keine Betriebsratsinhalte.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wir uns absichern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53384" cy="3566160"/>
          </a:xfrm>
          <a:prstGeom prst="roundRect">
            <a:avLst>
              <a:gd name="adj" fmla="val 317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1752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Routen je Rolle getestet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66160"/>
            <a:ext cx="29047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Rollentests gegen eine Wegwerf-Datenbank – vor jedem Deploy und auf GitHub.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67784" y="1737360"/>
            <a:ext cx="3453384" cy="3566160"/>
          </a:xfrm>
          <a:prstGeom prst="roundRect">
            <a:avLst>
              <a:gd name="adj" fmla="val 317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42104" y="201168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4642104" y="301752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 im Backend-Audit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42104" y="3566160"/>
            <a:ext cx="29047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 beim Update, dazu Dependabot und CodeQL automatisch auf GitHub.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95488" y="1737360"/>
            <a:ext cx="3453384" cy="3566160"/>
          </a:xfrm>
          <a:prstGeom prst="roundRect">
            <a:avLst>
              <a:gd name="adj" fmla="val 317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9808" y="201168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Täglich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8369808" y="301752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Update-Hinweis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69808" y="3566160"/>
            <a:ext cx="29047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Versionen werden angezeigt; Update-Skripte holen frische Basis-Images. Der Stand steht in „Über BR-DMS“.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FDF3E0"/>
          </a:solidFill>
          <a:ln w="6350">
            <a:solidFill>
              <a:srgbClr val="FDF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53212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Hinweis: Rechtliche Bezüge im System sind nicht juristisch geprüft (Disclaimer im README) – das betrifft die Inhalte, nicht die Technik.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Ablauf, ca. 10 Minuten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Demo-Instanz mit Beispieldaten – getrennt vom echten System.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457200" cy="45720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128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Zertifikat, Login mit Rolle Vorsitz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94436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Sitzung und Protokoll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TOP, Beschluss, PDF-Erzeugung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457200" cy="45720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67588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 hochladen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Verschlüsselt abgelegt, Volltextsuche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0080" y="4480560"/>
            <a:ext cx="457200" cy="45720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44074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Rollenwechsel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 sieht vertrauliche TOPs nicht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5212080"/>
            <a:ext cx="457200" cy="457200"/>
          </a:xfrm>
          <a:prstGeom prst="ellipse">
            <a:avLst/>
          </a:prstGeom>
          <a:solidFill>
            <a:srgbClr val="C8102E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1389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Audit-Log und System-Tab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hat was getan; Backup-Übersicht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583680" y="2286000"/>
            <a:ext cx="4965192" cy="3108960"/>
          </a:xfrm>
          <a:prstGeom prst="roundRect">
            <a:avLst>
              <a:gd name="adj" fmla="val 3529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0" y="2423160"/>
            <a:ext cx="44165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Demo starten / zurücksetzen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810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./demo/demo.sh start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810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./demo/demo.sh reset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Container zeigen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223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D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Backup live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223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bash backup.sh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223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 -lh backups/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532120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 testen: Demo hochfahren, JAV-Konto bereit.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MITNEHMEN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Stand: das Wichtigste ist schon erledigt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71516" cy="3566160"/>
          </a:xfrm>
          <a:prstGeom prst="roundRect">
            <a:avLst>
              <a:gd name="adj" fmla="val 307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92808"/>
            <a:ext cx="182880" cy="182880"/>
          </a:xfrm>
          <a:prstGeom prst="ellipse">
            <a:avLst/>
          </a:prstGeom>
          <a:solidFill>
            <a:srgbClr val="1F7A4D"/>
          </a:solidFill>
          <a:ln w="6350">
            <a:solidFill>
              <a:srgbClr val="1F7A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801368"/>
            <a:ext cx="4585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Erledigt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86000"/>
            <a:ext cx="481431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Firewall-Freigaben eingerichtet und funktionsfähig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Zertifikat aus der internen CA, kein Browser-Warnhinweis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Vertretung des Administrators geregelt: die Vorsitzvertretung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erfolgreich getestet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per cron-Job automatisiert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77356" y="1645920"/>
            <a:ext cx="5271516" cy="3566160"/>
          </a:xfrm>
          <a:prstGeom prst="roundRect">
            <a:avLst>
              <a:gd name="adj" fmla="val 3077"/>
            </a:avLst>
          </a:prstGeom>
          <a:solidFill>
            <a:srgbClr val="F3F3F4"/>
          </a:solidFill>
          <a:ln w="9525">
            <a:solidFill>
              <a:srgbClr val="E1E2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5956" y="1892808"/>
            <a:ext cx="182880" cy="182880"/>
          </a:xfrm>
          <a:prstGeom prst="ellipse">
            <a:avLst/>
          </a:prstGeom>
          <a:solidFill>
            <a:srgbClr val="B06400"/>
          </a:solidFill>
          <a:ln w="6350">
            <a:solidFill>
              <a:srgbClr val="B064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80276" y="1801368"/>
            <a:ext cx="4585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Noch offen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05956" y="2286000"/>
            <a:ext cx="481431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Backup-Ziel: zusätzlich eine Kopie außer Haus (Platte oder IT-Share)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auf dem NAS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Kontenkonzept auf dem NAS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kann die IT zusätzlich unterstützen (Prüfung, Test-Restore gemeinsam)?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44068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E5F4EC"/>
          </a:solidFill>
          <a:ln w="6350">
            <a:solidFill>
              <a:srgbClr val="E5F4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4406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 – Handbuch (PDF) und Backup-Anleitung (PDF) liegen im Projekt bereit.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MARKTÜBERBLICK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22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Alternativen – fast alle aus der Cloud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6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Anbieter für Betriebsratsarbeit gefunden. Self-Hosting bietet nur einer, und nur gegen Lizenz.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6888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40080" y="2011680"/>
          <a:ext cx="7040880" cy="3296000"/>
        </p:xfrm>
        <a:graphic>
          <a:graphicData uri="http://schemas.openxmlformats.org/drawingml/2006/table">
            <a:tbl>
              <a:tblPr/>
              <a:tblGrid>
                <a:gridCol w="1950000"/>
                <a:gridCol w="2000000"/>
                <a:gridCol w="3090880"/>
              </a:tblGrid>
              <a:tr h="412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anchor="ctr" marL="109728" marR="109728" marT="0" marB="0">
                    <a:solidFill>
                      <a:srgbClr val="22232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Betrieb</a:t>
                      </a:r>
                    </a:p>
                  </a:txBody>
                  <a:tcPr anchor="ctr" marL="109728" marR="109728" marT="0" marB="0">
                    <a:solidFill>
                      <a:srgbClr val="22232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Preis (Herstellerangaben)</a:t>
                      </a:r>
                    </a:p>
                  </a:txBody>
                  <a:tcPr anchor="ctr" marL="109728" marR="109728" marT="0" marB="0">
                    <a:solidFill>
                      <a:srgbClr val="222327"/>
                    </a:solidFill>
                  </a:tcPr>
                </a:tc>
              </a:tr>
              <a:tr h="4120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BRbase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8102E"/>
                          </a:solidFill>
                          <a:latin typeface="Calibri"/>
                        </a:rPr>
                        <a:t>Cloud, DE-Server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25–40 € je Mitglied/Monat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</a:tr>
              <a:tr h="4120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BRdigital</a:t>
                      </a:r>
                    </a:p>
                  </a:txBody>
                  <a:tcPr anchor="ctr" marL="109728" marR="109728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06400"/>
                          </a:solidFill>
                          <a:latin typeface="Calibri"/>
                        </a:rPr>
                        <a:t>Cloud oder On-Premise</a:t>
                      </a:r>
                    </a:p>
                  </a:txBody>
                  <a:tcPr anchor="ctr" marL="109728" marR="109728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199 €/Monat (7 Mitgl.); On-Premise: Lizenz + Wartung</a:t>
                      </a:r>
                    </a:p>
                  </a:txBody>
                  <a:tcPr anchor="ctr" marL="109728" marR="109728" marT="0" marB="0">
                    <a:solidFill>
                      <a:srgbClr val="FFFFFF"/>
                    </a:solidFill>
                  </a:tcPr>
                </a:tc>
              </a:tr>
              <a:tr h="4120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manageforwork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8102E"/>
                          </a:solidFill>
                          <a:latin typeface="Calibri"/>
                        </a:rPr>
                        <a:t>Cloud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ab 99 €/Monat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</a:tr>
              <a:tr h="4120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humbee</a:t>
                      </a:r>
                    </a:p>
                  </a:txBody>
                  <a:tcPr anchor="ctr" marL="109728" marR="109728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8102E"/>
                          </a:solidFill>
                          <a:latin typeface="Calibri"/>
                        </a:rPr>
                        <a:t>Cloud</a:t>
                      </a:r>
                    </a:p>
                  </a:txBody>
                  <a:tcPr anchor="ctr" marL="109728" marR="109728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nicht öffentlich</a:t>
                      </a:r>
                    </a:p>
                  </a:txBody>
                  <a:tcPr anchor="ctr" marL="109728" marR="109728" marT="0" marB="0">
                    <a:solidFill>
                      <a:srgbClr val="FFFFFF"/>
                    </a:solidFill>
                  </a:tcPr>
                </a:tc>
              </a:tr>
              <a:tr h="4120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Zenico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8102E"/>
                          </a:solidFill>
                          <a:latin typeface="Calibri"/>
                        </a:rPr>
                        <a:t>Cloud (eigene Instanz)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nicht öffentlich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</a:tr>
              <a:tr h="4120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Betriebsrat360 (ifb)</a:t>
                      </a:r>
                    </a:p>
                  </a:txBody>
                  <a:tcPr anchor="ctr" marL="109728" marR="109728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8102E"/>
                          </a:solidFill>
                          <a:latin typeface="Calibri"/>
                        </a:rPr>
                        <a:t>Teams-App (M365)</a:t>
                      </a:r>
                    </a:p>
                  </a:txBody>
                  <a:tcPr anchor="ctr" marL="109728" marR="109728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327"/>
                          </a:solidFill>
                          <a:latin typeface="Calibri"/>
                        </a:rPr>
                        <a:t>kostenlos</a:t>
                      </a:r>
                    </a:p>
                  </a:txBody>
                  <a:tcPr anchor="ctr" marL="109728" marR="109728" marT="0" marB="0">
                    <a:solidFill>
                      <a:srgbClr val="FFFFFF"/>
                    </a:solidFill>
                  </a:tcPr>
                </a:tc>
              </a:tr>
              <a:tr h="412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22327"/>
                          </a:solidFill>
                          <a:latin typeface="Calibri"/>
                        </a:rPr>
                        <a:t>BR-DMS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7A4D"/>
                          </a:solidFill>
                          <a:latin typeface="Calibri"/>
                        </a:rPr>
                        <a:t>Self-hosted, Open Source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7A4D"/>
                          </a:solidFill>
                          <a:latin typeface="Calibri"/>
                        </a:rPr>
                        <a:t>keine Lizenz</a:t>
                      </a:r>
                    </a:p>
                  </a:txBody>
                  <a:tcPr anchor="ctr" marL="109728" marR="109728" marT="0" marB="0">
                    <a:solidFill>
                      <a:srgbClr val="F3F3F4"/>
                    </a:solidFill>
                  </a:tcPr>
                </a:tc>
              </a:tr>
            </a:tbl>
          </a:graphicData>
        </a:graphic>
      </p:graphicFrame>
      <p:pic>
        <p:nvPicPr>
          <p:cNvPr id="27" name="Picture 26" descr="br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0000" y="2011680"/>
            <a:ext cx="3648872" cy="1025001"/>
          </a:xfrm>
          <a:prstGeom prst="rect">
            <a:avLst/>
          </a:prstGeom>
          <a:ln w="9525">
            <a:solidFill>
              <a:srgbClr val="E1E2E4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900000" y="3096681"/>
            <a:ext cx="3648872" cy="2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b="1" sz="1200">
                <a:solidFill>
                  <a:srgbClr val="222327"/>
                </a:solidFill>
                <a:latin typeface="Calibri"/>
              </a:rPr>
              <a:t>BRbase</a:t>
            </a:r>
            <a:r>
              <a:rPr sz="1200">
                <a:solidFill>
                  <a:srgbClr val="6B6D72"/>
                </a:solidFill>
                <a:latin typeface="Calibri"/>
              </a:rPr>
              <a:t> – Startseite (Cloud)</a:t>
            </a:r>
          </a:p>
        </p:txBody>
      </p:sp>
      <p:pic>
        <p:nvPicPr>
          <p:cNvPr id="29" name="Picture 28" descr="brdigit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000" y="3526681"/>
            <a:ext cx="3648872" cy="1214079"/>
          </a:xfrm>
          <a:prstGeom prst="rect">
            <a:avLst/>
          </a:prstGeom>
          <a:ln w="9525">
            <a:solidFill>
              <a:srgbClr val="E1E2E4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900000" y="4800760"/>
            <a:ext cx="3648872" cy="2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b="1" sz="1200">
                <a:solidFill>
                  <a:srgbClr val="222327"/>
                </a:solidFill>
                <a:latin typeface="Calibri"/>
              </a:rPr>
              <a:t>BRdigital</a:t>
            </a:r>
            <a:r>
              <a:rPr sz="1200">
                <a:solidFill>
                  <a:srgbClr val="6B6D72"/>
                </a:solidFill>
                <a:latin typeface="Calibri"/>
              </a:rPr>
              <a:t> – Startseite (Cloud / On-Premise)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650000"/>
            <a:ext cx="10908792" cy="420000"/>
          </a:xfrm>
          <a:prstGeom prst="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/>
          <a:lstStyle/>
          <a:p>
            <a:pPr algn="l"/>
            <a:r>
              <a:rPr sz="1200">
                <a:solidFill>
                  <a:srgbClr val="6B6D72"/>
                </a:solidFill>
                <a:latin typeface="Calibri"/>
              </a:rPr>
              <a:t>Stand Oktober 2026, nach Herstellerseiten und Websuche; nicht abschließend. Ein Open-Source-System für Betriebsräte haben wir nicht gefunden.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650000"/>
            <a:ext cx="54864" cy="420000"/>
          </a:xfrm>
          <a:prstGeom prst="rect">
            <a:avLst/>
          </a:prstGeom>
          <a:solidFill>
            <a:srgbClr val="B0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BR-DMS Vorstellung</dc:title>
  <dc:subject>PptxGenJS Presentation</dc:subject>
  <dc:creator>Betriebsrat</dc:creator>
  <cp:lastModifiedBy>Betriebsrat</cp:lastModifiedBy>
  <cp:revision>1</cp:revision>
  <dcterms:created xsi:type="dcterms:W3CDTF">2026-10-18T11:07:54Z</dcterms:created>
  <dcterms:modified xsi:type="dcterms:W3CDTF">2026-10-18T11:07:54Z</dcterms:modified>
</cp:coreProperties>
</file>