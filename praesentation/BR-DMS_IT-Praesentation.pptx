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instieg" id="{a9819e15-e664-6c89-9022-9795e080aac7}">
          <p14:sldIdLst>
            <p14:sldId id="256"/>
            <p14:sldId id="257"/>
            <p14:sldId id="258"/>
            <p14:sldId id="259"/>
          </p14:sldIdLst>
        </p14:section>
        <p14:section name="Technik" id="{000eb949-8a6d-64e6-00e7-6470e0490f16}">
          <p14:sldIdLst>
            <p14:sldId id="260"/>
            <p14:sldId id="261"/>
            <p14:sldId id="262"/>
            <p14:sldId id="263"/>
            <p14:sldId id="264"/>
          </p14:sldIdLst>
        </p14:section>
        <p14:section name="Betrieb" id="{cd680210-f715-60ac-55b5-489e525025ba}">
          <p14:sldIdLst>
            <p14:sldId id="265"/>
            <p14:sldId id="266"/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Gelb markierte Stellen in eckigen Klammern sind Platzhalter: durch eure Angaben ersetzen und die Markierung entfernen. Folien mit „Stand“ oder „Checkliste“ an eure Umgebung anpassen.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Screenshots aus der Demo mit erfundenen Daten.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Einziger Zugang ist HTTPS über den Proxy. Datenbank und Backend haben keine Ports nach außen.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Alles ist per docker-compose.yml beschrieben – ein Befehl startet das System, ein Befehl aktualisiert 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Screenshots aus der Demo mit erfundenen Daten.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Keine Cloud, keine Telemetrie, keine Fremd-Skripte (CSP: nur eigene Quellen). Es gibt genau zwei optionale ausgehende Abrufe.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Optionen A bis C für die Kopie außer Haus an eure Möglichkeiten anpassen und eine Empfehlung festlegen.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Betrieb und Administration liegen beim Betriebsrat. Die IT kann – muss aber nicht – an diesen Stellen unterstützen.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Vorher testen: Demo hochfahren, JAV-Konto bereit. Die Demo ist eine eigene Instanz mit Beispieldaten, getrennt vom echten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 Abschluss eine Checkliste statt einer Statusfolie: an eure Situation anpassen und den Stand eintragen.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Anbieter sind bewusst anonymisiert. Preise und Angebote stammen aus Herstellerangaben (Stand Oktober 2026) und ändern sich. Vor der Vorstellung aktualisieren; Aussagen zu Dritten ohne Gewähr.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4754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BR-DMS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060704" y="4754880"/>
            <a:ext cx="91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F4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NKEL">
    <p:bg>
      <p:bgPr>
        <a:solidFill>
          <a:srgbClr val="1F21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4754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BR-DMS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060704" y="4754880"/>
            <a:ext cx="91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1A1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ortmarke"/>
          <p:cNvSpPr txBox="1"/>
          <p:nvPr/>
        </p:nvSpPr>
        <p:spPr>
          <a:xfrm>
            <a:off x="548640" y="548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BR-DMS</a:t>
            </a:r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.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BETRIEBSRATS-DOKUMENTENMANAGEMENT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Unsere Daten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bleiben bei uns.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63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100 % Intranet · durchgängig verschlüsselt · vier Docker-Container auf eigener Hardware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Vorstellung für die IT-Abteilung · 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highlight>
                  <a:srgbClr val="FFE68A"/>
                </a:highlight>
              </a:rPr>
              <a:t>[Datum]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· Live-Demo inklusive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Version 1.8.6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"/>
          <p:cNvSpPr txBox="1"/>
          <p:nvPr/>
        </p:nvSpPr>
        <p:spPr>
          <a:xfrm>
            <a:off x="548640" y="274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WORUM ES GEHT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ist BR-DMS?</a:t>
            </a:r>
            <a:endParaRPr lang="en-US" sz="2800" dirty="0"/>
          </a:p>
        </p:txBody>
      </p:sp>
      <p:sp>
        <p:nvSpPr>
          <p:cNvPr id="4" name="Karte"/>
          <p:cNvSpPr/>
          <p:nvPr/>
        </p:nvSpPr>
        <p:spPr>
          <a:xfrm>
            <a:off x="548640" y="1280160"/>
            <a:ext cx="39319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417320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Was ist das?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1746504"/>
            <a:ext cx="360273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Die Arbeit des Betriebsrats – Sitzungen, Protokolle, Beschlüsse, Fristen, Dokumente – an einer Stelle. Statt Ordnerstruktur, Excel-Listen und Word-Vorlagen.</a:t>
            </a:r>
            <a:endParaRPr lang="en-US" sz="1200" dirty="0"/>
          </a:p>
        </p:txBody>
      </p:sp>
      <p:sp>
        <p:nvSpPr>
          <p:cNvPr id="7" name="Karte"/>
          <p:cNvSpPr/>
          <p:nvPr/>
        </p:nvSpPr>
        <p:spPr>
          <a:xfrm>
            <a:off x="4663440" y="1280160"/>
            <a:ext cx="39319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28032" y="1417320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Für wen?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828032" y="1746504"/>
            <a:ext cx="360273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Betriebsrat, JAV und SBV mit eigenen Rollen. Vertrauliches ist nur für Berechtigte sichtbar – auch die Administration kann auf Inhalte verzichten.</a:t>
            </a:r>
            <a:endParaRPr lang="en-US" sz="1200" dirty="0"/>
          </a:p>
        </p:txBody>
      </p:sp>
      <p:sp>
        <p:nvSpPr>
          <p:cNvPr id="10" name="Karte"/>
          <p:cNvSpPr/>
          <p:nvPr/>
        </p:nvSpPr>
        <p:spPr>
          <a:xfrm>
            <a:off x="548640" y="2971800"/>
            <a:ext cx="39319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3108960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Was kann es?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3438144"/>
            <a:ext cx="360273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Sitzungen mit Protokoll und PDF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Beschlussregister, Abstimmungen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Fristenkalender (§ 99 / § 102 …)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Verschlüsselte Dokumentenablage mit Volltextsuche</a:t>
            </a:r>
            <a:endParaRPr lang="en-US" sz="1200" dirty="0"/>
          </a:p>
        </p:txBody>
      </p:sp>
      <p:sp>
        <p:nvSpPr>
          <p:cNvPr id="13" name="Karte"/>
          <p:cNvSpPr/>
          <p:nvPr/>
        </p:nvSpPr>
        <p:spPr>
          <a:xfrm>
            <a:off x="4663440" y="2971800"/>
            <a:ext cx="39319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28032" y="3108960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Woher kommt es?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828032" y="3438144"/>
            <a:ext cx="360273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Aus der Praxis eines Betriebsrats entwickelt, als Open Source (AGPL-3.0) veröffentlicht. Der Quellcode ist offen und kann von der IT geprüft werden.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"/>
          <p:cNvSpPr txBox="1"/>
          <p:nvPr/>
        </p:nvSpPr>
        <p:spPr>
          <a:xfrm>
            <a:off x="548640" y="274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SO SIEHT ES AUS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und Sitzungsprotokoll</a:t>
            </a:r>
            <a:endParaRPr lang="en-US" sz="2800" dirty="0"/>
          </a:p>
        </p:txBody>
      </p:sp>
      <p:sp>
        <p:nvSpPr>
          <p:cNvPr id="5" name="Bildrahmen"/>
          <p:cNvSpPr/>
          <p:nvPr/>
        </p:nvSpPr>
        <p:spPr>
          <a:xfrm>
            <a:off x="530352" y="1450467"/>
            <a:ext cx="3968496" cy="2494026"/>
          </a:xfrm>
          <a:prstGeom prst="rect">
            <a:avLst/>
          </a:prstGeom>
          <a:solidFill>
            <a:srgbClr val="FFFFFF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6" name="Image 0" descr="Dashboard mit nächster Sitzung, Aufgaben, Fristen und Nachricht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8755"/>
            <a:ext cx="3931920" cy="2457450"/>
          </a:xfrm>
          <a:prstGeom prst="rect">
            <a:avLst/>
          </a:prstGeom>
        </p:spPr>
      </p:pic>
      <p:sp>
        <p:nvSpPr>
          <p:cNvPr id="7" name="Bildrahmen"/>
          <p:cNvSpPr/>
          <p:nvPr/>
        </p:nvSpPr>
        <p:spPr>
          <a:xfrm>
            <a:off x="4645152" y="1450467"/>
            <a:ext cx="3968496" cy="2494026"/>
          </a:xfrm>
          <a:prstGeom prst="rect">
            <a:avLst/>
          </a:prstGeom>
          <a:solidFill>
            <a:srgbClr val="FFFFFF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8" name="Image 1" descr="Sitzung mit Versionshistorie, Unterschriftenseite und Sitzungspake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468755"/>
            <a:ext cx="3931920" cy="245745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48640" y="4114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Dashboard: nächste Sitzung, Aufgaben, Fristen und Nachrichten auf einen Blick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4663440" y="4114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Sitzung: Versionshistorie, Unterschriftenseite und Sitzungspaket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"/>
          <p:cNvSpPr txBox="1"/>
          <p:nvPr/>
        </p:nvSpPr>
        <p:spPr>
          <a:xfrm>
            <a:off x="548640" y="274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WARUM SO UND NICHT ANDERS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Vorteile gegenüber anderen Systemen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Betriebsratsdaten sind Personaldaten. Am sichersten ist es, wenn nichts das Haus verlässt.</a:t>
            </a:r>
            <a:endParaRPr lang="en-US" sz="1300" dirty="0"/>
          </a:p>
        </p:txBody>
      </p:sp>
      <p:graphicFrame>
        <p:nvGraphicFramePr>
          <p:cNvPr id="5" name="Tabel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468880"/>
                <a:gridCol w="1828800"/>
                <a:gridCol w="17373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BR-DMS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Cloud-DMS / SaaS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Fileserver + Office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Datenstandort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Nur eigene Hardware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Fremder Anbieter, oft Drittland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Intern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Verschlüsselte Ablage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AES-256-GCM pro Dokument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Anbieterschlüssel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Meist keine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Zugriff durch Admins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Inhalte sperrbar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Anbieter-Personal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Jeder Admin sieht alles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Rollen und Vertraulichkeit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BR / JAV / SBV, je TOP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Generisch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Ordnerrechte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Nachvollziehbarkeit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Audit-Log, 30+ Aktionen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Je nach Tarif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Kaum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Fachlogik Betriebsrat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Fristen, Wahlen, Beschlussfähigkeit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Nein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Selbst bauen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Kosten / Abhängigkeit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Keine Lizenz, kein Lock-in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Abo, Preisrisiko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Office-Lizenzen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"/>
          <p:cNvSpPr txBox="1"/>
          <p:nvPr/>
        </p:nvSpPr>
        <p:spPr>
          <a:xfrm>
            <a:off x="548640" y="274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TECHNIK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Aufbau: ein Weg hinein, der Rest abgeschottet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801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INTRANET</a:t>
            </a:r>
            <a:endParaRPr lang="en-US" sz="1000" dirty="0"/>
          </a:p>
        </p:txBody>
      </p:sp>
      <p:sp>
        <p:nvSpPr>
          <p:cNvPr id="6" name="Browser"/>
          <p:cNvSpPr/>
          <p:nvPr/>
        </p:nvSpPr>
        <p:spPr>
          <a:xfrm>
            <a:off x="548640" y="1554480"/>
            <a:ext cx="1463040" cy="6858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21792" y="1554480"/>
            <a:ext cx="1316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Browser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HTTPS</a:t>
            </a:r>
            <a:endParaRPr lang="en-US" sz="1200" dirty="0"/>
          </a:p>
        </p:txBody>
      </p:sp>
      <p:sp>
        <p:nvSpPr>
          <p:cNvPr id="8" name="Netzordner"/>
          <p:cNvSpPr/>
          <p:nvPr/>
        </p:nvSpPr>
        <p:spPr>
          <a:xfrm>
            <a:off x="548640" y="2423160"/>
            <a:ext cx="1463040" cy="6858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21792" y="2423160"/>
            <a:ext cx="1316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Netzordner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Import → Backend</a:t>
            </a:r>
            <a:endParaRPr lang="en-US" sz="1200" dirty="0"/>
          </a:p>
        </p:txBody>
      </p:sp>
      <p:sp>
        <p:nvSpPr>
          <p:cNvPr id="10" name="Mail-Server"/>
          <p:cNvSpPr/>
          <p:nvPr/>
        </p:nvSpPr>
        <p:spPr>
          <a:xfrm>
            <a:off x="548640" y="3291840"/>
            <a:ext cx="1463040" cy="6858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1792" y="3291840"/>
            <a:ext cx="1316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Mail-Server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Backend → Mail (SMTP)</a:t>
            </a:r>
            <a:endParaRPr lang="en-US" sz="1200" dirty="0"/>
          </a:p>
        </p:txBody>
      </p:sp>
      <p:sp>
        <p:nvSpPr>
          <p:cNvPr id="12" name="Server"/>
          <p:cNvSpPr/>
          <p:nvPr/>
        </p:nvSpPr>
        <p:spPr>
          <a:xfrm>
            <a:off x="2286000" y="1280160"/>
            <a:ext cx="630936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2423160" y="132588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Server · Docker Compose · Netz „brdms_net“</a:t>
            </a:r>
            <a:endParaRPr lang="en-US" sz="1000" dirty="0"/>
          </a:p>
        </p:txBody>
      </p:sp>
      <p:sp>
        <p:nvSpPr>
          <p:cNvPr id="14" name="Proxy"/>
          <p:cNvSpPr/>
          <p:nvPr/>
        </p:nvSpPr>
        <p:spPr>
          <a:xfrm>
            <a:off x="2423160" y="1783080"/>
            <a:ext cx="1508760" cy="1325880"/>
          </a:xfrm>
          <a:prstGeom prst="roundRect">
            <a:avLst>
              <a:gd name="adj" fmla="val 4138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496312" y="1783080"/>
            <a:ext cx="136245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Proxy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nginx 1.30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TLS 1.2 / 1.3 · HSTS · CSP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Port 8443 (HTTPS)</a:t>
            </a:r>
            <a:endParaRPr lang="en-US" sz="1200" dirty="0"/>
          </a:p>
        </p:txBody>
      </p:sp>
      <p:sp>
        <p:nvSpPr>
          <p:cNvPr id="16" name="Frontend"/>
          <p:cNvSpPr/>
          <p:nvPr/>
        </p:nvSpPr>
        <p:spPr>
          <a:xfrm>
            <a:off x="4206240" y="1645920"/>
            <a:ext cx="1828800" cy="77724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279392" y="1645920"/>
            <a:ext cx="1682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Frontend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React 18 + Vite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nginx · nur 127.0.0.1</a:t>
            </a:r>
            <a:endParaRPr lang="en-US" sz="1200" dirty="0"/>
          </a:p>
        </p:txBody>
      </p:sp>
      <p:sp>
        <p:nvSpPr>
          <p:cNvPr id="18" name="Backend"/>
          <p:cNvSpPr/>
          <p:nvPr/>
        </p:nvSpPr>
        <p:spPr>
          <a:xfrm>
            <a:off x="4206240" y="2606040"/>
            <a:ext cx="1828800" cy="77724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279392" y="2606040"/>
            <a:ext cx="1682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Backend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Node 24 · Fastify 5 · Prisma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kein Port nach außen</a:t>
            </a:r>
            <a:endParaRPr lang="en-US" sz="1200" dirty="0"/>
          </a:p>
        </p:txBody>
      </p:sp>
      <p:sp>
        <p:nvSpPr>
          <p:cNvPr id="20" name="PostgreSQL 16"/>
          <p:cNvSpPr/>
          <p:nvPr/>
        </p:nvSpPr>
        <p:spPr>
          <a:xfrm>
            <a:off x="6309360" y="1645920"/>
            <a:ext cx="2148840" cy="77724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82512" y="1645920"/>
            <a:ext cx="2002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PostgreSQL 16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Datenbank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kein Port nach außen</a:t>
            </a:r>
            <a:endParaRPr lang="en-US" sz="1200" dirty="0"/>
          </a:p>
        </p:txBody>
      </p:sp>
      <p:sp>
        <p:nvSpPr>
          <p:cNvPr id="22" name="Storage"/>
          <p:cNvSpPr/>
          <p:nvPr/>
        </p:nvSpPr>
        <p:spPr>
          <a:xfrm>
            <a:off x="6309360" y="2606040"/>
            <a:ext cx="2148840" cy="77724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382512" y="2606040"/>
            <a:ext cx="2002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Storage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Dokumente, AES-256-GCM</a:t>
            </a:r>
            <a:endParaRPr lang="en-US" sz="1200" dirty="0"/>
          </a:p>
        </p:txBody>
      </p:sp>
      <p:sp>
        <p:nvSpPr>
          <p:cNvPr id="24" name="Backups"/>
          <p:cNvSpPr/>
          <p:nvPr/>
        </p:nvSpPr>
        <p:spPr>
          <a:xfrm>
            <a:off x="2423160" y="3493008"/>
            <a:ext cx="6035040" cy="41148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496312" y="3493008"/>
            <a:ext cx="5888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Backups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backup.sh per cron · AES-256 verschlüsselt · 30 Tage · nur lesbar fürs Backend</a:t>
            </a:r>
            <a:endParaRPr lang="en-US" sz="1200" dirty="0"/>
          </a:p>
        </p:txBody>
      </p:sp>
      <p:sp>
        <p:nvSpPr>
          <p:cNvPr id="26" name="Pfeil"/>
          <p:cNvSpPr/>
          <p:nvPr/>
        </p:nvSpPr>
        <p:spPr>
          <a:xfrm>
            <a:off x="2011680" y="1897380"/>
            <a:ext cx="411480" cy="29718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7" name="Pfeil"/>
          <p:cNvSpPr/>
          <p:nvPr/>
        </p:nvSpPr>
        <p:spPr>
          <a:xfrm flipV="1">
            <a:off x="3931920" y="2011680"/>
            <a:ext cx="274320" cy="18288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8" name="Pfeil"/>
          <p:cNvSpPr/>
          <p:nvPr/>
        </p:nvSpPr>
        <p:spPr>
          <a:xfrm>
            <a:off x="3931920" y="2651760"/>
            <a:ext cx="274320" cy="27432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9" name="Pfeil"/>
          <p:cNvSpPr/>
          <p:nvPr/>
        </p:nvSpPr>
        <p:spPr>
          <a:xfrm flipV="1">
            <a:off x="6035040" y="2194560"/>
            <a:ext cx="274320" cy="73152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0" name="Pfeil"/>
          <p:cNvSpPr/>
          <p:nvPr/>
        </p:nvSpPr>
        <p:spPr>
          <a:xfrm>
            <a:off x="6035040" y="3017520"/>
            <a:ext cx="27432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1" name="Hinweis"/>
          <p:cNvSpPr/>
          <p:nvPr/>
        </p:nvSpPr>
        <p:spPr>
          <a:xfrm>
            <a:off x="548640" y="4206240"/>
            <a:ext cx="8046720" cy="365760"/>
          </a:xfrm>
          <a:prstGeom prst="roundRect">
            <a:avLst>
              <a:gd name="adj" fmla="val 15000"/>
            </a:avLst>
          </a:prstGeom>
          <a:solidFill>
            <a:srgbClr val="FDECEF"/>
          </a:solidFill>
          <a:ln w="9525">
            <a:solidFill>
              <a:srgbClr val="F3BFC8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85800" y="42062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0A1D"/>
                </a:solidFill>
              </a:rPr>
              <a:t>Einziger Zugang: HTTPS über den Proxy.</a:t>
            </a:r>
            <a:pPr indent="0" marL="0">
              <a:buNone/>
            </a:pPr>
            <a:r>
              <a:rPr lang="en-US" sz="1200" dirty="0">
                <a:solidFill>
                  <a:srgbClr val="7A0A1D"/>
                </a:solidFill>
              </a:rPr>
              <a:t> Datenbank und Backend haben keine Ports nach außen.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"/>
          <p:cNvSpPr txBox="1"/>
          <p:nvPr/>
        </p:nvSpPr>
        <p:spPr>
          <a:xfrm>
            <a:off x="548640" y="274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TECHNIK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vier Docker-Container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Alles per docker-compose.yml beschrieben – ein Befehl startet das System, ein Befehl aktualisiert es.</a:t>
            </a:r>
            <a:endParaRPr lang="en-US" sz="1300" dirty="0"/>
          </a:p>
        </p:txBody>
      </p:sp>
      <p:graphicFrame>
        <p:nvGraphicFramePr>
          <p:cNvPr id="7" name="Tabel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920240"/>
                <a:gridCol w="3108960"/>
                <a:gridCol w="16459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Container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Image / Technik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Aufgabe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Erreichbar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brdms_proxy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nginx 1.30-alpine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TLS beenden, Sicherheits-Header setzen, Frontend und API unter einer Adresse bündeln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Host-Netz, 8443 / 8080 (→ HTTPS)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brdms_frontend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React 18, Vite, Tailwind in nginx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Oberfläche; leitet /api intern ans Backend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nur 127.0.0.1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brdms_backend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Node.js 24, Fastify 5, Prisma (TypeScript)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Logik, Rechte, Ver-/Entschlüsselung, PDF, Mail, Watch Folder, Hintergrundjobs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nur intern, Healthcheck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brdms_postgres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PostgreSQL 16-alpine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Alle Daten außer den Dokumentdateien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nur intern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7" name="Hinweis"/>
          <p:cNvSpPr/>
          <p:nvPr/>
        </p:nvSpPr>
        <p:spPr>
          <a:xfrm>
            <a:off x="548640" y="4023360"/>
            <a:ext cx="8046720" cy="54864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85800" y="4023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Daten: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 unter DATA_PATH (Datenbank, Storage, Logs, Backups, Zertifikate) · </a:t>
            </a:r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Konfiguration: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 zentral in einer .env, erzeugt vom Installationsassistenten · </a:t>
            </a:r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Neustart-fest: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 restart: unless-stopped und Healthchecks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"/>
          <p:cNvSpPr txBox="1"/>
          <p:nvPr/>
        </p:nvSpPr>
        <p:spPr>
          <a:xfrm>
            <a:off x="548640" y="274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SICHERHEIT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Verschlüsselt, abgeschottet, nachvollziehbar</a:t>
            </a:r>
            <a:endParaRPr lang="en-US" sz="2800" dirty="0"/>
          </a:p>
        </p:txBody>
      </p:sp>
      <p:sp>
        <p:nvSpPr>
          <p:cNvPr id="4" name="Karte"/>
          <p:cNvSpPr/>
          <p:nvPr/>
        </p:nvSpPr>
        <p:spPr>
          <a:xfrm>
            <a:off x="548640" y="1280160"/>
            <a:ext cx="25603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41732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Daten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1746504"/>
            <a:ext cx="223113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Dokumente AES-256-GCM, nur bei Bedarf entschlüsselt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Prüfsumme je Dokument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Backups AES-256 + PBKDF2 (600.000 Iterationen)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Schlüssel separat ausgedruckt aufbewahren</a:t>
            </a:r>
            <a:endParaRPr lang="en-US" sz="1100" dirty="0"/>
          </a:p>
        </p:txBody>
      </p:sp>
      <p:sp>
        <p:nvSpPr>
          <p:cNvPr id="7" name="Karte"/>
          <p:cNvSpPr/>
          <p:nvPr/>
        </p:nvSpPr>
        <p:spPr>
          <a:xfrm>
            <a:off x="3291840" y="1280160"/>
            <a:ext cx="25603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56432" y="141732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Zugriff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456432" y="1746504"/>
            <a:ext cx="223113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Rollen: Vorsitz, Stellvertretung, Mitglied, Ersatz, JAV, SBV, Admin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Passwörter mit scrypt und Salt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Zwei-Faktor (TOTP), optional oder Pflicht je Rolle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Auto-Logout, Rate-Limits gegen Brute Force</a:t>
            </a:r>
            <a:endParaRPr lang="en-US" sz="1100" dirty="0"/>
          </a:p>
        </p:txBody>
      </p:sp>
      <p:sp>
        <p:nvSpPr>
          <p:cNvPr id="10" name="Karte"/>
          <p:cNvSpPr/>
          <p:nvPr/>
        </p:nvSpPr>
        <p:spPr>
          <a:xfrm>
            <a:off x="6035040" y="1280160"/>
            <a:ext cx="25603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99632" y="141732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Netz und Web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199632" y="1746504"/>
            <a:ext cx="223113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TLS 1.2 / 1.3, HSTS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Content-Security-Policy, X-Frame-Options DENY, nosniff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Echte Client-IP im Log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Lückenloses Audit-Log mit IP, Zeit, User-Agent</a:t>
            </a:r>
            <a:endParaRPr lang="en-US" sz="1100" dirty="0"/>
          </a:p>
        </p:txBody>
      </p:sp>
      <p:sp>
        <p:nvSpPr>
          <p:cNvPr id="13" name="Hinweis"/>
          <p:cNvSpPr/>
          <p:nvPr/>
        </p:nvSpPr>
        <p:spPr>
          <a:xfrm>
            <a:off x="548640" y="3840480"/>
            <a:ext cx="8046720" cy="594360"/>
          </a:xfrm>
          <a:prstGeom prst="roundRect">
            <a:avLst>
              <a:gd name="adj" fmla="val 9231"/>
            </a:avLst>
          </a:prstGeom>
          <a:solidFill>
            <a:srgbClr val="FDECEF"/>
          </a:solidFill>
          <a:ln w="9525">
            <a:solidFill>
              <a:srgbClr val="F3BFC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8404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0A1D"/>
                </a:solidFill>
              </a:rPr>
              <a:t>Besonderheit: Admin ohne Inhaltszugriff.</a:t>
            </a:r>
            <a:pPr indent="0" marL="0">
              <a:buNone/>
            </a:pPr>
            <a:r>
              <a:rPr lang="en-US" sz="1200" dirty="0">
                <a:solidFill>
                  <a:srgbClr val="7A0A1D"/>
                </a:solidFill>
              </a:rPr>
              <a:t> Die technische Verwaltung lässt sich beschränken; Sitzungen, Dokumente, Personal- und Audit-Daten bleiben dem Gremium vorbehalten.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"/>
          <p:cNvSpPr txBox="1"/>
          <p:nvPr/>
        </p:nvSpPr>
        <p:spPr>
          <a:xfrm>
            <a:off x="548640" y="274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SO SIEHT ES AUS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Administration und Nachvollziehbarkeit</a:t>
            </a:r>
            <a:endParaRPr lang="en-US" sz="2800" dirty="0"/>
          </a:p>
        </p:txBody>
      </p:sp>
      <p:sp>
        <p:nvSpPr>
          <p:cNvPr id="5" name="Bildrahmen"/>
          <p:cNvSpPr/>
          <p:nvPr/>
        </p:nvSpPr>
        <p:spPr>
          <a:xfrm>
            <a:off x="530352" y="1450467"/>
            <a:ext cx="3968496" cy="2494026"/>
          </a:xfrm>
          <a:prstGeom prst="rect">
            <a:avLst/>
          </a:prstGeom>
          <a:solidFill>
            <a:srgbClr val="FFFFFF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6" name="Image 0" descr="Einstellungen: Admin ohne Inhaltszugrif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8755"/>
            <a:ext cx="3931920" cy="2457450"/>
          </a:xfrm>
          <a:prstGeom prst="rect">
            <a:avLst/>
          </a:prstGeom>
        </p:spPr>
      </p:pic>
      <p:sp>
        <p:nvSpPr>
          <p:cNvPr id="7" name="Bildrahmen"/>
          <p:cNvSpPr/>
          <p:nvPr/>
        </p:nvSpPr>
        <p:spPr>
          <a:xfrm>
            <a:off x="4645152" y="1450467"/>
            <a:ext cx="3968496" cy="2494026"/>
          </a:xfrm>
          <a:prstGeom prst="rect">
            <a:avLst/>
          </a:prstGeom>
          <a:solidFill>
            <a:srgbClr val="FFFFFF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8" name="Image 1" descr="Audit-Log mit Benutzer, Aktion, IP und Zeitstemp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468755"/>
            <a:ext cx="3931920" cy="245745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48640" y="4114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Admin ohne Inhaltszugriff: Schalter für die technische Betreuung durch die IT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4663440" y="4114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Audit-Log: wer hat wann was getan, mit IP und Zeitstempel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"/>
          <p:cNvSpPr txBox="1"/>
          <p:nvPr/>
        </p:nvSpPr>
        <p:spPr>
          <a:xfrm>
            <a:off x="548640" y="274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100 % INTRANET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das Netz sieht – ehrlich aufgelistet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Keine Cloud, keine Telemetrie, keine Fremd-Skripte (CSP: nur eigene Quellen). Es gibt genau zwei optionale ausgehende Abrufe.</a:t>
            </a:r>
            <a:endParaRPr lang="en-US" sz="1300" dirty="0"/>
          </a:p>
        </p:txBody>
      </p:sp>
      <p:sp>
        <p:nvSpPr>
          <p:cNvPr id="6" name="Karte"/>
          <p:cNvSpPr/>
          <p:nvPr/>
        </p:nvSpPr>
        <p:spPr>
          <a:xfrm>
            <a:off x="548640" y="1600200"/>
            <a:ext cx="39319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13232" y="1737360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Eingehend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13232" y="2066544"/>
            <a:ext cx="360273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HTTPS 8443 aus dem Firmennetz, optional 8080 mit Weiterleitung auf HTTPS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Keine Freigabe ins Internet nötig oder vorgesehen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Zertifikat aus der internen CA</a:t>
            </a:r>
            <a:endParaRPr lang="en-US" sz="1200" dirty="0"/>
          </a:p>
        </p:txBody>
      </p:sp>
      <p:sp>
        <p:nvSpPr>
          <p:cNvPr id="9" name="Karte"/>
          <p:cNvSpPr/>
          <p:nvPr/>
        </p:nvSpPr>
        <p:spPr>
          <a:xfrm>
            <a:off x="4663440" y="1600200"/>
            <a:ext cx="39319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28032" y="1737360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Ausgehend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828032" y="2066544"/>
            <a:ext cx="360273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SMTP an den internen Mailserver (Einladungen, Fristen-Erinnerung)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Optional: api.github.com – tägliche Versionsprüfung, abschaltbar (UPDATE_CHECK_ENABLED=false)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Optional: gesetze-im-internet.de – monatliche Gesetzestexte; ohne Freigabe bleibt der Stand stehen</a:t>
            </a:r>
            <a:endParaRPr lang="en-US" sz="1200" dirty="0"/>
          </a:p>
        </p:txBody>
      </p:sp>
      <p:sp>
        <p:nvSpPr>
          <p:cNvPr id="12" name="Hinweis"/>
          <p:cNvSpPr/>
          <p:nvPr/>
        </p:nvSpPr>
        <p:spPr>
          <a:xfrm>
            <a:off x="548640" y="4114800"/>
            <a:ext cx="8046720" cy="41148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41148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highlight>
                  <a:srgbClr val="FFE68A"/>
                </a:highlight>
              </a:rPr>
              <a:t>[Stand eintragen: Firewall-Regeln eingerichtet und getestet? Zertifikat aus der internen CA ausgestellt?]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"/>
          <p:cNvSpPr txBox="1"/>
          <p:nvPr/>
        </p:nvSpPr>
        <p:spPr>
          <a:xfrm>
            <a:off x="548640" y="274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BETRIEB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Backup: automatisiert und getestet</a:t>
            </a:r>
            <a:endParaRPr lang="en-US" sz="2800" dirty="0"/>
          </a:p>
        </p:txBody>
      </p:sp>
      <p:sp>
        <p:nvSpPr>
          <p:cNvPr id="5" name="Karte"/>
          <p:cNvSpPr/>
          <p:nvPr/>
        </p:nvSpPr>
        <p:spPr>
          <a:xfrm>
            <a:off x="548640" y="1280160"/>
            <a:ext cx="393192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" y="1417320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Im System enthalten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13232" y="1746504"/>
            <a:ext cx="3602736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backup.sh läuft per cron: Datenbank + Storage, verschlüsselt (.enc), 30 Tage Rotation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Infodatei mit Version/Commit je Backup; restore.sh prüft, ob es passt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Restore ist transaktional – bei Fehler bleibt die Datenbank unverändert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Wochenmail an den Vorsitz; Warnung bei altem, unvollständigem oder unverschlüsseltem Backup</a:t>
            </a:r>
            <a:endParaRPr lang="en-US" sz="1100" dirty="0"/>
          </a:p>
        </p:txBody>
      </p:sp>
      <p:sp>
        <p:nvSpPr>
          <p:cNvPr id="8" name="Karte"/>
          <p:cNvSpPr/>
          <p:nvPr/>
        </p:nvSpPr>
        <p:spPr>
          <a:xfrm>
            <a:off x="4663440" y="1280160"/>
            <a:ext cx="393192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28032" y="1417320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Kopie außer Haus – drei Wege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828032" y="1746504"/>
            <a:ext cx="3602736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A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 Externe Festplatten: selbst wechseln, fester Termin, Platte im Safe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B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 Automatisch: Aufgabenplaner kopiert nachts auf USB-Platte oder zweites NAS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C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 IT-Ziel: verschlüsselte Dateien auf einem IT-Share oder per Bandsicherung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Verschlüsselt darf eine Kopie bei der IT liegen, ohne dass diese lesen kann</a:t>
            </a:r>
            <a:endParaRPr lang="en-US" sz="1100" dirty="0"/>
          </a:p>
        </p:txBody>
      </p:sp>
      <p:sp>
        <p:nvSpPr>
          <p:cNvPr id="11" name="Hinweis"/>
          <p:cNvSpPr/>
          <p:nvPr/>
        </p:nvSpPr>
        <p:spPr>
          <a:xfrm>
            <a:off x="548640" y="3977640"/>
            <a:ext cx="8046720" cy="502920"/>
          </a:xfrm>
          <a:prstGeom prst="roundRect">
            <a:avLst>
              <a:gd name="adj" fmla="val 10909"/>
            </a:avLst>
          </a:prstGeom>
          <a:solidFill>
            <a:srgbClr val="FDECEF"/>
          </a:solidFill>
          <a:ln w="9525">
            <a:solidFill>
              <a:srgbClr val="F3BFC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" y="3977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0A1D"/>
                </a:solidFill>
              </a:rPr>
              <a:t>Wichtig:</a:t>
            </a:r>
            <a:pPr indent="0" marL="0">
              <a:buNone/>
            </a:pPr>
            <a:r>
              <a:rPr lang="en-US" sz="1200" dirty="0">
                <a:solidFill>
                  <a:srgbClr val="7A0A1D"/>
                </a:solidFill>
              </a:rPr>
              <a:t> ENCRYPTION_KEY und BACKUP_KEY ausgedruckt an einem sicheren Ort außerhalb des Servers aufbewahren. Ohne sie ist kein Restore möglich.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"/>
          <p:cNvSpPr txBox="1"/>
          <p:nvPr/>
        </p:nvSpPr>
        <p:spPr>
          <a:xfrm>
            <a:off x="548640" y="274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ZUSAMMENARBEIT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 die IT mitwirken kann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Betrieb und Administration liegen beim Betriebsrat. Die IT kann – muss aber nicht – an diesen Stellen unterstützen:</a:t>
            </a:r>
            <a:endParaRPr lang="en-US" sz="1300" dirty="0"/>
          </a:p>
        </p:txBody>
      </p:sp>
      <p:sp>
        <p:nvSpPr>
          <p:cNvPr id="6" name="Karte"/>
          <p:cNvSpPr/>
          <p:nvPr/>
        </p:nvSpPr>
        <p:spPr>
          <a:xfrm>
            <a:off x="548640" y="1600200"/>
            <a:ext cx="1874520" cy="196596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13232" y="1737360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Netz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13232" y="2066544"/>
            <a:ext cx="154533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Firewall-Regeln und Zertifikat (z. B. aus der internen CA).</a:t>
            </a:r>
            <a:endParaRPr lang="en-US" sz="1200" dirty="0"/>
          </a:p>
        </p:txBody>
      </p:sp>
      <p:sp>
        <p:nvSpPr>
          <p:cNvPr id="9" name="Karte"/>
          <p:cNvSpPr/>
          <p:nvPr/>
        </p:nvSpPr>
        <p:spPr>
          <a:xfrm>
            <a:off x="2606040" y="1600200"/>
            <a:ext cx="1874520" cy="196596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770632" y="1737360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Backup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2770632" y="2066544"/>
            <a:ext cx="154533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Ziel für verschlüsselte Kopien außer Haus, Einbindung in die bestehende Sicherung.</a:t>
            </a:r>
            <a:endParaRPr lang="en-US" sz="1200" dirty="0"/>
          </a:p>
        </p:txBody>
      </p:sp>
      <p:sp>
        <p:nvSpPr>
          <p:cNvPr id="12" name="Karte"/>
          <p:cNvSpPr/>
          <p:nvPr/>
        </p:nvSpPr>
        <p:spPr>
          <a:xfrm>
            <a:off x="4663440" y="1600200"/>
            <a:ext cx="1874520" cy="196596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28032" y="1737360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Prüfung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828032" y="2066544"/>
            <a:ext cx="154533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Quellcode ist offen. Security-Review, Penetrationstest, Blick auf die CI-Ergebnisse.</a:t>
            </a:r>
            <a:endParaRPr lang="en-US" sz="1200" dirty="0"/>
          </a:p>
        </p:txBody>
      </p:sp>
      <p:sp>
        <p:nvSpPr>
          <p:cNvPr id="15" name="Karte"/>
          <p:cNvSpPr/>
          <p:nvPr/>
        </p:nvSpPr>
        <p:spPr>
          <a:xfrm>
            <a:off x="6720840" y="1600200"/>
            <a:ext cx="1874520" cy="196596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85432" y="1737360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Betrieb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885432" y="2066544"/>
            <a:ext cx="154533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Server-Updates, Snapshots, Überwachung. Vertretung der Administration: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highlight>
                  <a:srgbClr val="FFE68A"/>
                </a:highlight>
              </a:rPr>
              <a:t>[Name / Funktion]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.</a:t>
            </a:r>
            <a:endParaRPr lang="en-US" sz="1200" dirty="0"/>
          </a:p>
        </p:txBody>
      </p:sp>
      <p:sp>
        <p:nvSpPr>
          <p:cNvPr id="18" name="Hinweis"/>
          <p:cNvSpPr/>
          <p:nvPr/>
        </p:nvSpPr>
        <p:spPr>
          <a:xfrm>
            <a:off x="548640" y="3794760"/>
            <a:ext cx="8046720" cy="548640"/>
          </a:xfrm>
          <a:prstGeom prst="roundRect">
            <a:avLst>
              <a:gd name="adj" fmla="val 10000"/>
            </a:avLst>
          </a:prstGeom>
          <a:solidFill>
            <a:srgbClr val="FDECEF"/>
          </a:solidFill>
          <a:ln w="9525">
            <a:solidFill>
              <a:srgbClr val="F3BFC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3794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0A1D"/>
                </a:solidFill>
              </a:rPr>
              <a:t>Grenze bewusst gezogen:</a:t>
            </a:r>
            <a:pPr indent="0" marL="0">
              <a:buNone/>
            </a:pPr>
            <a:r>
              <a:rPr lang="en-US" sz="1200" dirty="0">
                <a:solidFill>
                  <a:srgbClr val="7A0A1D"/>
                </a:solidFill>
              </a:rPr>
              <a:t> Die IT betreibt die Infrastruktur, sieht aber wegen Verschlüsselung und „Admin ohne Inhaltszugriff“ keine Betriebsratsinhalte.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"/>
          <p:cNvSpPr txBox="1"/>
          <p:nvPr/>
        </p:nvSpPr>
        <p:spPr>
          <a:xfrm>
            <a:off x="548640" y="274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QUALITÄT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wir uns absichern</a:t>
            </a:r>
            <a:endParaRPr lang="en-US" sz="2800" dirty="0"/>
          </a:p>
        </p:txBody>
      </p:sp>
      <p:sp>
        <p:nvSpPr>
          <p:cNvPr id="4" name="Karte"/>
          <p:cNvSpPr/>
          <p:nvPr/>
        </p:nvSpPr>
        <p:spPr>
          <a:xfrm>
            <a:off x="548640" y="1325880"/>
            <a:ext cx="256032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463040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Alle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196596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Routen je Rolle getestet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295144"/>
            <a:ext cx="223113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Automatische Rollentests gegen eine Wegwerf-Datenbank – vor jedem Deploy und auf GitHub.</a:t>
            </a:r>
            <a:endParaRPr lang="en-US" sz="1200" dirty="0"/>
          </a:p>
        </p:txBody>
      </p:sp>
      <p:sp>
        <p:nvSpPr>
          <p:cNvPr id="8" name="Karte"/>
          <p:cNvSpPr/>
          <p:nvPr/>
        </p:nvSpPr>
        <p:spPr>
          <a:xfrm>
            <a:off x="3291840" y="1325880"/>
            <a:ext cx="256032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56432" y="1463040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Audit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456432" y="196596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Abhängigkeiten geprüft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456432" y="2295144"/>
            <a:ext cx="223113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npm audit beim Update, dazu Dependabot und CodeQL automatisch auf GitHub.</a:t>
            </a:r>
            <a:endParaRPr lang="en-US" sz="1200" dirty="0"/>
          </a:p>
        </p:txBody>
      </p:sp>
      <p:sp>
        <p:nvSpPr>
          <p:cNvPr id="12" name="Karte"/>
          <p:cNvSpPr/>
          <p:nvPr/>
        </p:nvSpPr>
        <p:spPr>
          <a:xfrm>
            <a:off x="6035040" y="1325880"/>
            <a:ext cx="256032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99632" y="1463040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Täglich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199632" y="196596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Update-Hinweis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199632" y="2295144"/>
            <a:ext cx="223113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Neue Versionen werden angezeigt; Update-Skripte holen frische Basis-Images. Der Stand steht in „Über BR-DMS“.</a:t>
            </a:r>
            <a:endParaRPr lang="en-US" sz="1200" dirty="0"/>
          </a:p>
        </p:txBody>
      </p:sp>
      <p:sp>
        <p:nvSpPr>
          <p:cNvPr id="16" name="Hinweis"/>
          <p:cNvSpPr/>
          <p:nvPr/>
        </p:nvSpPr>
        <p:spPr>
          <a:xfrm>
            <a:off x="548640" y="3886200"/>
            <a:ext cx="8046720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8862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Hinweis: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 Rechtliche Bezüge im System sind nicht juristisch geprüft (Disclaimer im README) – das betrifft die Inhalte, nicht die Technik.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"/>
          <p:cNvSpPr txBox="1"/>
          <p:nvPr/>
        </p:nvSpPr>
        <p:spPr>
          <a:xfrm>
            <a:off x="548640" y="274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LIVE-DEMO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Ablauf, ca. 10 Minuten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Eigene Demo-Instanz mit Beispieldaten – getrennt vom echten System.</a:t>
            </a:r>
            <a:endParaRPr lang="en-US" sz="1300" dirty="0"/>
          </a:p>
        </p:txBody>
      </p:sp>
      <p:sp>
        <p:nvSpPr>
          <p:cNvPr id="6" name="Schritt"/>
          <p:cNvSpPr/>
          <p:nvPr/>
        </p:nvSpPr>
        <p:spPr>
          <a:xfrm>
            <a:off x="548640" y="1554480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51790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Anmelden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HTTPS, Zertifikat, Login mit Rolle Vorsitz</a:t>
            </a:r>
            <a:endParaRPr lang="en-US" sz="1300" dirty="0"/>
          </a:p>
        </p:txBody>
      </p:sp>
      <p:sp>
        <p:nvSpPr>
          <p:cNvPr id="9" name="Schritt"/>
          <p:cNvSpPr/>
          <p:nvPr/>
        </p:nvSpPr>
        <p:spPr>
          <a:xfrm>
            <a:off x="548640" y="2139696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2139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21031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Sitzung und Protokoll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TOP, Beschluss, PDF-Erzeugung</a:t>
            </a:r>
            <a:endParaRPr lang="en-US" sz="1300" dirty="0"/>
          </a:p>
        </p:txBody>
      </p:sp>
      <p:sp>
        <p:nvSpPr>
          <p:cNvPr id="12" name="Schritt"/>
          <p:cNvSpPr/>
          <p:nvPr/>
        </p:nvSpPr>
        <p:spPr>
          <a:xfrm>
            <a:off x="548640" y="2724912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2724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268833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Dokument hochladen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Verschlüsselt abgelegt, Volltextsuche</a:t>
            </a:r>
            <a:endParaRPr lang="en-US" sz="1300" dirty="0"/>
          </a:p>
        </p:txBody>
      </p:sp>
      <p:sp>
        <p:nvSpPr>
          <p:cNvPr id="15" name="Schritt"/>
          <p:cNvSpPr/>
          <p:nvPr/>
        </p:nvSpPr>
        <p:spPr>
          <a:xfrm>
            <a:off x="548640" y="3310128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3310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327355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Rollenwechsel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JAV sieht vertrauliche TOPs nicht</a:t>
            </a:r>
            <a:endParaRPr lang="en-US" sz="1300" dirty="0"/>
          </a:p>
        </p:txBody>
      </p:sp>
      <p:sp>
        <p:nvSpPr>
          <p:cNvPr id="18" name="Schritt"/>
          <p:cNvSpPr/>
          <p:nvPr/>
        </p:nvSpPr>
        <p:spPr>
          <a:xfrm>
            <a:off x="548640" y="389534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48640" y="3895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097280" y="385876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Audit-Log und System-Tab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Wer hat was getan; Backup-Übersicht</a:t>
            </a:r>
            <a:endParaRPr lang="en-US" sz="1300" dirty="0"/>
          </a:p>
        </p:txBody>
      </p:sp>
      <p:sp>
        <p:nvSpPr>
          <p:cNvPr id="21" name="Befehle"/>
          <p:cNvSpPr/>
          <p:nvPr/>
        </p:nvSpPr>
        <p:spPr>
          <a:xfrm>
            <a:off x="5303520" y="1554480"/>
            <a:ext cx="3291840" cy="2834640"/>
          </a:xfrm>
          <a:prstGeom prst="roundRect">
            <a:avLst>
              <a:gd name="adj" fmla="val 2581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22" name="Befehlszeilen"/>
          <p:cNvSpPr txBox="1"/>
          <p:nvPr/>
        </p:nvSpPr>
        <p:spPr>
          <a:xfrm>
            <a:off x="5440680" y="1645920"/>
            <a:ext cx="3017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Demo starten / zurücksetzen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./demo/demo.sh start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./demo/demo.sh reset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Container zeigen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Backup live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bash backup.sh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-lh backups/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"/>
          <p:cNvSpPr txBox="1"/>
          <p:nvPr/>
        </p:nvSpPr>
        <p:spPr>
          <a:xfrm>
            <a:off x="548640" y="274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ZUM MITNEHMEN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Checkliste vor dem Start</a:t>
            </a:r>
            <a:endParaRPr lang="en-US" sz="2800" dirty="0"/>
          </a:p>
        </p:txBody>
      </p:sp>
      <p:sp>
        <p:nvSpPr>
          <p:cNvPr id="5" name="Karte"/>
          <p:cNvSpPr/>
          <p:nvPr/>
        </p:nvSpPr>
        <p:spPr>
          <a:xfrm>
            <a:off x="548640" y="1280160"/>
            <a:ext cx="393192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" y="1417320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Vorab klären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13232" y="1746504"/>
            <a:ext cx="3602736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Firewall-Freigaben eingerichtet und getestet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Zertifikat aus der internen CA, kein Browser-Warnhinweis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Vertretung des Administrators geregelt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Restore erfolgreich getestet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Backup per cron-Job automatisiert</a:t>
            </a:r>
            <a:endParaRPr lang="en-US" sz="1200" dirty="0"/>
          </a:p>
        </p:txBody>
      </p:sp>
      <p:sp>
        <p:nvSpPr>
          <p:cNvPr id="8" name="Karte"/>
          <p:cNvSpPr/>
          <p:nvPr/>
        </p:nvSpPr>
        <p:spPr>
          <a:xfrm>
            <a:off x="4663440" y="1280160"/>
            <a:ext cx="3931920" cy="2514600"/>
          </a:xfrm>
          <a:prstGeom prst="roundRect">
            <a:avLst>
              <a:gd name="adj" fmla="val 2909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28032" y="1417320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Gemeinsam mit der IT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828032" y="1746504"/>
            <a:ext cx="3602736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accent6"/>
                </a:solidFill>
              </a:rPr>
              <a:t>Backup-Ziel: zusätzlich eine Kopie außer Haus (Platte oder IT-Share)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accent6"/>
                </a:solidFill>
              </a:rPr>
              <a:t>Snapshots auf dem Server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accent6"/>
                </a:solidFill>
              </a:rPr>
              <a:t>Kontenkonzept auf dem Server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accent6"/>
                </a:solidFill>
              </a:rPr>
              <a:t>Prüfung des Quellcodes, gemeinsamer Test-Restore</a:t>
            </a:r>
            <a:endParaRPr lang="en-US" sz="1300" dirty="0"/>
          </a:p>
        </p:txBody>
      </p:sp>
      <p:sp>
        <p:nvSpPr>
          <p:cNvPr id="11" name="Hinweis"/>
          <p:cNvSpPr/>
          <p:nvPr/>
        </p:nvSpPr>
        <p:spPr>
          <a:xfrm>
            <a:off x="548640" y="4023360"/>
            <a:ext cx="8046720" cy="457200"/>
          </a:xfrm>
          <a:prstGeom prst="roundRect">
            <a:avLst>
              <a:gd name="adj" fmla="val 12000"/>
            </a:avLst>
          </a:prstGeom>
          <a:solidFill>
            <a:srgbClr val="FDECEF"/>
          </a:solidFill>
          <a:ln w="9525">
            <a:solidFill>
              <a:srgbClr val="F3BFC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" y="40233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0A1D"/>
                </a:solidFill>
              </a:rPr>
              <a:t>Fragen?</a:t>
            </a:r>
            <a:pPr indent="0" marL="0">
              <a:buNone/>
            </a:pPr>
            <a:r>
              <a:rPr lang="en-US" sz="1200" dirty="0">
                <a:solidFill>
                  <a:srgbClr val="7A0A1D"/>
                </a:solidFill>
              </a:rPr>
              <a:t> Handbuch (PDF) und Backup-Anleitung (PDF) liegen im Projekt bereit.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"/>
          <p:cNvSpPr txBox="1"/>
          <p:nvPr/>
        </p:nvSpPr>
        <p:spPr>
          <a:xfrm>
            <a:off x="548640" y="274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MARKTÜBERBLICK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gibt Alternativen – fast alle aus der Cloud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Sechs Anbieter für Betriebsratsarbeit gefunden. Self-Hosting bietet nur einer, und nur gegen Lizenz.</a:t>
            </a:r>
            <a:endParaRPr lang="en-US" sz="1300" dirty="0"/>
          </a:p>
        </p:txBody>
      </p:sp>
      <p:graphicFrame>
        <p:nvGraphicFramePr>
          <p:cNvPr id="16" name="Tabel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377440"/>
                <a:gridCol w="38404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Anbieter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Betrieb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Preis (Herstellerangaben)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Anbieter A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Cloud, Server in Deutschland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25–40 € je Mitglied/Monat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Anbieter B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Cloud oder On-Premise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ca. 200 €/Monat (7 Mitgl.); On-Premise: Lizenz + Wartung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Anbieter C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Cloud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ab ca. 100 €/Monat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Anbieter D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Cloud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nicht öffentlich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Anbieter 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Cloud (eigene Instanz)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nicht öffentlich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Anbieter F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Teams-App (M365)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kostenlos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BR-DMS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Self-hosted, Open Source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keine Lizenz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Hinweis"/>
          <p:cNvSpPr/>
          <p:nvPr/>
        </p:nvSpPr>
        <p:spPr>
          <a:xfrm>
            <a:off x="548640" y="4206240"/>
            <a:ext cx="8046720" cy="457200"/>
          </a:xfrm>
          <a:prstGeom prst="roundRect">
            <a:avLst>
              <a:gd name="adj" fmla="val 12000"/>
            </a:avLst>
          </a:prstGeom>
          <a:solidFill>
            <a:srgbClr val="FFF8E1"/>
          </a:solidFill>
          <a:ln w="9525">
            <a:solidFill>
              <a:srgbClr val="F3D98B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85800" y="4206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4E00"/>
                </a:solidFill>
              </a:rPr>
              <a:t>Stand Oktober 2026, nach Herstellerseiten und Websuche; nicht abschließend, ohne Gewähr. Ein Open-Source-System für Betriebsräte haben wir nicht gefunden.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R-DMS">
  <a:themeElements>
    <a:clrScheme name="BR-DMS">
      <a:dk1>
        <a:srgbClr val="1F2125"/>
      </a:dk1>
      <a:lt1>
        <a:srgbClr val="FFFFFF"/>
      </a:lt1>
      <a:dk2>
        <a:srgbClr val="52525B"/>
      </a:dk2>
      <a:lt2>
        <a:srgbClr val="F4F4F5"/>
      </a:lt2>
      <a:accent1>
        <a:srgbClr val="C41230"/>
      </a:accent1>
      <a:accent2>
        <a:srgbClr val="1E7B4A"/>
      </a:accent2>
      <a:accent3>
        <a:srgbClr val="B45309"/>
      </a:accent3>
      <a:accent4>
        <a:srgbClr val="52525B"/>
      </a:accent4>
      <a:accent5>
        <a:srgbClr val="A1A1AA"/>
      </a:accent5>
      <a:accent6>
        <a:srgbClr val="E4E4E7"/>
      </a:accent6>
      <a:hlink>
        <a:srgbClr val="C41230"/>
      </a:hlink>
      <a:folHlink>
        <a:srgbClr val="71717A"/>
      </a:folHlink>
    </a:clrScheme>
    <a:fontScheme name="BR-DM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BR-DMS – Vorstellung für die IT-Abteilung</dc:title>
  <dc:subject>Vorstellung von BR-DMS, dem Dokumentenmanagement für Betriebsräte</dc:subject>
  <dc:creator>BR-DMS</dc:creator>
  <cp:lastModifiedBy>BR-DMS</cp:lastModifiedBy>
  <cp:revision>1</cp:revision>
  <dcterms:created xsi:type="dcterms:W3CDTF">2026-10-27T04:57:52Z</dcterms:created>
  <dcterms:modified xsi:type="dcterms:W3CDTF">2026-10-27T04:57:52Z</dcterms:modified>
</cp:coreProperties>
</file>